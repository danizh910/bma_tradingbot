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Überblick" id="{1828a528-5839-2d58-73b3-1f90798f9fd5}">
          <p14:sldIdLst>
            <p14:sldId id="256"/>
            <p14:sldId id="257"/>
            <p14:sldId id="258"/>
          </p14:sldIdLst>
        </p14:section>
        <p14:section name="Aufbau" id="{b486c862-b07d-1198-8783-876cfcaa933d}">
          <p14:sldIdLst>
            <p14:sldId id="259"/>
            <p14:sldId id="260"/>
            <p14:sldId id="261"/>
            <p14:sldId id="262"/>
            <p14:sldId id="263"/>
            <p14:sldId id="264"/>
            <p14:sldId id="265"/>
            <p14:sldId id="266"/>
            <p14:sldId id="267"/>
          </p14:sldIdLst>
        </p14:section>
        <p14:section name="Ergebnisse" id="{fa63906f-4739-36f6-a646-a1ab9b6e2ea3}">
          <p14:sldIdLst>
            <p14:sldId id="268"/>
            <p14:sldId id="269"/>
            <p14:sldId id="270"/>
            <p14:sldId id="271"/>
            <p14:sldId id="272"/>
            <p14:sldId id="273"/>
          </p14:sldIdLst>
        </p14:section>
        <p14:section name="Entscheide" id="{ff688fca-edbc-a8ca-2f62-00442e6e63fc}">
          <p14:sldIdLst>
            <p14:sldId id="274"/>
            <p14:sldId id="275"/>
            <p14:sldId id="276"/>
            <p14:sldId id="277"/>
          </p14:sldIdLst>
        </p14:section>
        <p14:section name="Bedienung" id="{f8bc1c5d-cdd7-c064-3c19-b6207613c558}">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Sharpe Ratio 2018–2022, Gebühr 0.1 %</a:t>
            </a:r>
          </a:p>
        </c:rich>
      </c:tx>
      <c:layout/>
      <c:overlay val="0"/>
    </c:title>
    <c:autoTitleDeleted val="0"/>
    <c:plotArea>
      <c:layout/>
      <c:barChart>
        <c:barDir val="col"/>
        <c:grouping val="clustered"/>
        <c:varyColors val="0"/>
        <c:ser>
          <c:idx val="0"/>
          <c:order val="0"/>
          <c:tx>
            <c:strRef>
              <c:f>Sheet1!$B$1</c:f>
              <c:strCache>
                <c:ptCount val="1"/>
                <c:pt idx="0">
                  <c:v>Sharpe Ratio</c:v>
                </c:pt>
              </c:strCache>
            </c:strRef>
          </c:tx>
          <c:spPr>
            <a:solidFill>
              <a:srgbClr val="5B7083"/>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7083"/>
              </a:solidFill>
              <a:effectLst/>
            </c:spPr>
          </c:dPt>
          <c:dPt>
            <c:idx val="1"/>
            <c:invertIfNegative val="0"/>
            <c:bubble3D val="0"/>
            <c:spPr>
              <a:solidFill>
                <a:srgbClr val="F7931A"/>
              </a:solidFill>
              <a:effectLst/>
            </c:spPr>
          </c:dPt>
          <c:dPt>
            <c:idx val="2"/>
            <c:invertIfNegative val="0"/>
            <c:bubble3D val="0"/>
            <c:spPr>
              <a:solidFill>
                <a:srgbClr val="5B7083"/>
              </a:solidFill>
              <a:effectLst/>
            </c:spPr>
          </c:dPt>
          <c:dPt>
            <c:idx val="3"/>
            <c:invertIfNegative val="0"/>
            <c:bubble3D val="0"/>
            <c:spPr>
              <a:solidFill>
                <a:srgbClr val="F7931A"/>
              </a:solidFill>
              <a:effectLst/>
            </c:spPr>
          </c:dPt>
          <c:dPt>
            <c:idx val="4"/>
            <c:invertIfNegative val="0"/>
            <c:bubble3D val="0"/>
            <c:spPr>
              <a:solidFill>
                <a:srgbClr val="D64545"/>
              </a:solidFill>
              <a:effectLst/>
            </c:spPr>
          </c:dPt>
          <c:dPt>
            <c:idx val="5"/>
            <c:invertIfNegative val="0"/>
            <c:bubble3D val="0"/>
            <c:spPr>
              <a:solidFill>
                <a:srgbClr val="F7931A"/>
              </a:solidFill>
              <a:effectLst/>
            </c:spPr>
          </c:dPt>
          <c:dPt>
            <c:idx val="6"/>
            <c:invertIfNegative val="0"/>
            <c:bubble3D val="0"/>
            <c:spPr>
              <a:solidFill>
                <a:srgbClr val="5B7083"/>
              </a:solidFill>
              <a:effectLst/>
            </c:spPr>
          </c:dPt>
          <c:dPt>
            <c:idx val="7"/>
            <c:invertIfNegative val="0"/>
            <c:bubble3D val="0"/>
            <c:spPr>
              <a:solidFill>
                <a:srgbClr val="F7931A"/>
              </a:solidFill>
              <a:effectLst/>
            </c:spPr>
          </c:dPt>
          <c:dPt>
            <c:idx val="8"/>
            <c:invertIfNegative val="0"/>
            <c:bubble3D val="0"/>
            <c:spPr>
              <a:solidFill>
                <a:srgbClr val="5B7083"/>
              </a:solidFill>
              <a:effectLst/>
            </c:spPr>
          </c:dPt>
          <c:dPt>
            <c:idx val="9"/>
            <c:invertIfNegative val="0"/>
            <c:bubble3D val="0"/>
            <c:spPr>
              <a:solidFill>
                <a:srgbClr val="F7931A"/>
              </a:solidFill>
              <a:effectLst/>
            </c:spPr>
          </c:dPt>
          <c:dPt>
            <c:idx val="10"/>
            <c:invertIfNegative val="0"/>
            <c:bubble3D val="0"/>
            <c:spPr>
              <a:solidFill>
                <a:srgbClr val="1B2430"/>
              </a:solidFill>
              <a:effectLst/>
            </c:spPr>
          </c:dPt>
          <c:cat>
            <c:multiLvlStrRef>
              <c:f>Sheet1!$A$2:$A$12</c:f>
              <c:multiLvlStrCache>
                <c:ptCount val="11"/>
                <c:lvl>
                  <c:pt idx="0">
                    <c:v>S1 Std</c:v>
                  </c:pt>
                  <c:pt idx="1">
                    <c:v>S1 Opt</c:v>
                  </c:pt>
                  <c:pt idx="2">
                    <c:v>S2 Std</c:v>
                  </c:pt>
                  <c:pt idx="3">
                    <c:v>S2 Opt</c:v>
                  </c:pt>
                  <c:pt idx="4">
                    <c:v>S3 Std</c:v>
                  </c:pt>
                  <c:pt idx="5">
                    <c:v>S3 Opt</c:v>
                  </c:pt>
                  <c:pt idx="6">
                    <c:v>S4 Std</c:v>
                  </c:pt>
                  <c:pt idx="7">
                    <c:v>S4 Opt</c:v>
                  </c:pt>
                  <c:pt idx="8">
                    <c:v>Ens Std</c:v>
                  </c:pt>
                  <c:pt idx="9">
                    <c:v>Ens Opt</c:v>
                  </c:pt>
                  <c:pt idx="10">
                    <c:v>Buy &amp; Hold</c:v>
                  </c:pt>
                </c:lvl>
              </c:multiLvlStrCache>
            </c:multiLvlStrRef>
          </c:cat>
          <c:val>
            <c:numRef>
              <c:f>Sheet1!$B$2:$B$12</c:f>
              <c:numCache>
                <c:formatCode>General</c:formatCode>
                <c:ptCount val="11"/>
                <c:pt idx="0">
                  <c:v>0.54</c:v>
                </c:pt>
                <c:pt idx="1">
                  <c:v>0.81</c:v>
                </c:pt>
                <c:pt idx="2">
                  <c:v>0.74</c:v>
                </c:pt>
                <c:pt idx="3">
                  <c:v>0.95</c:v>
                </c:pt>
                <c:pt idx="4">
                  <c:v>-0.63</c:v>
                </c:pt>
                <c:pt idx="5">
                  <c:v>0.59</c:v>
                </c:pt>
                <c:pt idx="6">
                  <c:v>0.85</c:v>
                </c:pt>
                <c:pt idx="7">
                  <c:v>1.41</c:v>
                </c:pt>
                <c:pt idx="8">
                  <c:v>0.78</c:v>
                </c:pt>
                <c:pt idx="9">
                  <c:v>1.19</c:v>
                </c:pt>
                <c:pt idx="10">
                  <c:v>0.44</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2"/>
        <c:crosses val="autoZero"/>
        <c:auto val="1"/>
        <c:lblAlgn val="ctr"/>
        <c:noMultiLvlLbl val="1"/>
      </c:catAx>
      <c:valAx>
        <c:axId val="2094734552"/>
        <c:scaling>
          <c:orientation val="minMax"/>
          <c:max val="1.6"/>
          <c:min val="-1"/>
        </c:scaling>
        <c:delete val="0"/>
        <c:axPos val="l"/>
        <c:majorGridlines>
          <c:spPr>
            <a:ln w="6350" cap="flat">
              <a:solidFill>
                <a:srgbClr val="D9DF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Max Drawdown: grösster Verlust in % (kürzer = besser)</a:t>
            </a:r>
          </a:p>
        </c:rich>
      </c:tx>
      <c:layout/>
      <c:overlay val="0"/>
    </c:title>
    <c:autoTitleDeleted val="0"/>
    <c:plotArea>
      <c:layout/>
      <c:barChart>
        <c:barDir val="bar"/>
        <c:grouping val="clustered"/>
        <c:varyColors val="0"/>
        <c:ser>
          <c:idx val="0"/>
          <c:order val="0"/>
          <c:tx>
            <c:strRef>
              <c:f>Sheet1!$B$1</c:f>
              <c:strCache>
                <c:ptCount val="1"/>
                <c:pt idx="0">
                  <c:v>Max Drawdown</c:v>
                </c:pt>
              </c:strCache>
            </c:strRef>
          </c:tx>
          <c:spPr>
            <a:solidFill>
              <a:srgbClr val="5B7083"/>
            </a:solidFill>
            <a:effectLst/>
          </c:spPr>
          <c:invertIfNegative val="0"/>
          <c:dLbls>
            <c:numFmt formatCode="&quot;−&quot;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7083"/>
              </a:solidFill>
              <a:effectLst/>
            </c:spPr>
          </c:dPt>
          <c:dPt>
            <c:idx val="1"/>
            <c:invertIfNegative val="0"/>
            <c:bubble3D val="0"/>
            <c:spPr>
              <a:solidFill>
                <a:srgbClr val="F7931A"/>
              </a:solidFill>
              <a:effectLst/>
            </c:spPr>
          </c:dPt>
          <c:dPt>
            <c:idx val="2"/>
            <c:invertIfNegative val="0"/>
            <c:bubble3D val="0"/>
            <c:spPr>
              <a:solidFill>
                <a:srgbClr val="5B7083"/>
              </a:solidFill>
              <a:effectLst/>
            </c:spPr>
          </c:dPt>
          <c:dPt>
            <c:idx val="3"/>
            <c:invertIfNegative val="0"/>
            <c:bubble3D val="0"/>
            <c:spPr>
              <a:solidFill>
                <a:srgbClr val="F7931A"/>
              </a:solidFill>
              <a:effectLst/>
            </c:spPr>
          </c:dPt>
          <c:dPt>
            <c:idx val="4"/>
            <c:invertIfNegative val="0"/>
            <c:bubble3D val="0"/>
            <c:spPr>
              <a:solidFill>
                <a:srgbClr val="5B7083"/>
              </a:solidFill>
              <a:effectLst/>
            </c:spPr>
          </c:dPt>
          <c:dPt>
            <c:idx val="5"/>
            <c:invertIfNegative val="0"/>
            <c:bubble3D val="0"/>
            <c:spPr>
              <a:solidFill>
                <a:srgbClr val="F7931A"/>
              </a:solidFill>
              <a:effectLst/>
            </c:spPr>
          </c:dPt>
          <c:dPt>
            <c:idx val="6"/>
            <c:invertIfNegative val="0"/>
            <c:bubble3D val="0"/>
            <c:spPr>
              <a:solidFill>
                <a:srgbClr val="5B7083"/>
              </a:solidFill>
              <a:effectLst/>
            </c:spPr>
          </c:dPt>
          <c:dPt>
            <c:idx val="7"/>
            <c:invertIfNegative val="0"/>
            <c:bubble3D val="0"/>
            <c:spPr>
              <a:solidFill>
                <a:srgbClr val="F7931A"/>
              </a:solidFill>
              <a:effectLst/>
            </c:spPr>
          </c:dPt>
          <c:dPt>
            <c:idx val="8"/>
            <c:invertIfNegative val="0"/>
            <c:bubble3D val="0"/>
            <c:spPr>
              <a:solidFill>
                <a:srgbClr val="5B7083"/>
              </a:solidFill>
              <a:effectLst/>
            </c:spPr>
          </c:dPt>
          <c:dPt>
            <c:idx val="9"/>
            <c:invertIfNegative val="0"/>
            <c:bubble3D val="0"/>
            <c:spPr>
              <a:solidFill>
                <a:srgbClr val="F7931A"/>
              </a:solidFill>
              <a:effectLst/>
            </c:spPr>
          </c:dPt>
          <c:dPt>
            <c:idx val="10"/>
            <c:invertIfNegative val="0"/>
            <c:bubble3D val="0"/>
            <c:spPr>
              <a:solidFill>
                <a:srgbClr val="1B2430"/>
              </a:solidFill>
              <a:effectLst/>
            </c:spPr>
          </c:dPt>
          <c:cat>
            <c:multiLvlStrRef>
              <c:f>Sheet1!$A$2:$A$12</c:f>
              <c:multiLvlStrCache>
                <c:ptCount val="11"/>
                <c:lvl>
                  <c:pt idx="0">
                    <c:v>S1 Std</c:v>
                  </c:pt>
                  <c:pt idx="1">
                    <c:v>S1 Opt</c:v>
                  </c:pt>
                  <c:pt idx="2">
                    <c:v>S2 Std</c:v>
                  </c:pt>
                  <c:pt idx="3">
                    <c:v>S2 Opt</c:v>
                  </c:pt>
                  <c:pt idx="4">
                    <c:v>S3 Std</c:v>
                  </c:pt>
                  <c:pt idx="5">
                    <c:v>S3 Opt</c:v>
                  </c:pt>
                  <c:pt idx="6">
                    <c:v>S4 Std</c:v>
                  </c:pt>
                  <c:pt idx="7">
                    <c:v>S4 Opt</c:v>
                  </c:pt>
                  <c:pt idx="8">
                    <c:v>Ens Std</c:v>
                  </c:pt>
                  <c:pt idx="9">
                    <c:v>Ens Opt</c:v>
                  </c:pt>
                  <c:pt idx="10">
                    <c:v>Buy &amp; Hold</c:v>
                  </c:pt>
                </c:lvl>
              </c:multiLvlStrCache>
            </c:multiLvlStrRef>
          </c:cat>
          <c:val>
            <c:numRef>
              <c:f>Sheet1!$B$2:$B$12</c:f>
              <c:numCache>
                <c:formatCode>General</c:formatCode>
                <c:ptCount val="11"/>
                <c:pt idx="0">
                  <c:v>67.5</c:v>
                </c:pt>
                <c:pt idx="1">
                  <c:v>68.7</c:v>
                </c:pt>
                <c:pt idx="2">
                  <c:v>70.5</c:v>
                </c:pt>
                <c:pt idx="3">
                  <c:v>58</c:v>
                </c:pt>
                <c:pt idx="4">
                  <c:v>20.3</c:v>
                </c:pt>
                <c:pt idx="5">
                  <c:v>47.6</c:v>
                </c:pt>
                <c:pt idx="6">
                  <c:v>49.9</c:v>
                </c:pt>
                <c:pt idx="7">
                  <c:v>25.2</c:v>
                </c:pt>
                <c:pt idx="8">
                  <c:v>47.5</c:v>
                </c:pt>
                <c:pt idx="9">
                  <c:v>33.8</c:v>
                </c:pt>
                <c:pt idx="10">
                  <c:v>81.2</c:v>
                </c:pt>
              </c:numCache>
            </c:numRef>
          </c:val>
        </c:ser>
        <c:dLbls>
          <c:numFmt formatCode="&quot;−&quot;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9DFE6"/>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Sharpe Ratio pro Marktphase (Standardparameter)</a:t>
            </a:r>
          </a:p>
        </c:rich>
      </c:tx>
      <c:layout/>
      <c:overlay val="0"/>
    </c:title>
    <c:autoTitleDeleted val="0"/>
    <c:plotArea>
      <c:layout/>
      <c:barChart>
        <c:barDir val="col"/>
        <c:grouping val="clustered"/>
        <c:varyColors val="0"/>
        <c:ser>
          <c:idx val="0"/>
          <c:order val="0"/>
          <c:tx>
            <c:strRef>
              <c:f>Sheet1!$B$1</c:f>
              <c:strCache>
                <c:ptCount val="1"/>
                <c:pt idx="0">
                  <c:v>Bull</c:v>
                </c:pt>
              </c:strCache>
            </c:strRef>
          </c:tx>
          <c:spPr>
            <a:solidFill>
              <a:srgbClr val="2E9E5B"/>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S1 Std</c:v>
                  </c:pt>
                  <c:pt idx="1">
                    <c:v>S2 Std</c:v>
                  </c:pt>
                  <c:pt idx="2">
                    <c:v>S3 Std</c:v>
                  </c:pt>
                  <c:pt idx="3">
                    <c:v>S4 Std</c:v>
                  </c:pt>
                  <c:pt idx="4">
                    <c:v>Ens Std</c:v>
                  </c:pt>
                  <c:pt idx="5">
                    <c:v>Buy &amp; Hold</c:v>
                  </c:pt>
                </c:lvl>
              </c:multiLvlStrCache>
            </c:multiLvlStrRef>
          </c:cat>
          <c:val>
            <c:numRef>
              <c:f>Sheet1!$B$2:$B$7</c:f>
              <c:numCache>
                <c:formatCode>General</c:formatCode>
                <c:ptCount val="6"/>
                <c:pt idx="0">
                  <c:v>0.64</c:v>
                </c:pt>
                <c:pt idx="1">
                  <c:v>1.27</c:v>
                </c:pt>
                <c:pt idx="2">
                  <c:v>-0.95</c:v>
                </c:pt>
                <c:pt idx="3">
                  <c:v>1.26</c:v>
                </c:pt>
                <c:pt idx="4">
                  <c:v>1.07</c:v>
                </c:pt>
                <c:pt idx="5">
                  <c:v>0.66</c:v>
                </c:pt>
              </c:numCache>
            </c:numRef>
          </c:val>
        </c:ser>
        <c:ser>
          <c:idx val="1"/>
          <c:order val="1"/>
          <c:tx>
            <c:strRef>
              <c:f>Sheet1!$C$1</c:f>
              <c:strCache>
                <c:ptCount val="1"/>
                <c:pt idx="0">
                  <c:v>Bear</c:v>
                </c:pt>
              </c:strCache>
            </c:strRef>
          </c:tx>
          <c:spPr>
            <a:solidFill>
              <a:srgbClr val="D64545"/>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S1 Std</c:v>
                  </c:pt>
                  <c:pt idx="1">
                    <c:v>S2 Std</c:v>
                  </c:pt>
                  <c:pt idx="2">
                    <c:v>S3 Std</c:v>
                  </c:pt>
                  <c:pt idx="3">
                    <c:v>S4 Std</c:v>
                  </c:pt>
                  <c:pt idx="4">
                    <c:v>Ens Std</c:v>
                  </c:pt>
                  <c:pt idx="5">
                    <c:v>Buy &amp; Hold</c:v>
                  </c:pt>
                </c:lvl>
              </c:multiLvlStrCache>
            </c:multiLvlStrRef>
          </c:cat>
          <c:val>
            <c:numRef>
              <c:f>Sheet1!$C$2:$C$7</c:f>
              <c:numCache>
                <c:formatCode>General</c:formatCode>
                <c:ptCount val="6"/>
                <c:pt idx="0">
                  <c:v>0.46</c:v>
                </c:pt>
                <c:pt idx="1">
                  <c:v>0.11</c:v>
                </c:pt>
                <c:pt idx="2">
                  <c:v>-0.84</c:v>
                </c:pt>
                <c:pt idx="3">
                  <c:v>0.28</c:v>
                </c:pt>
                <c:pt idx="4">
                  <c:v>0.43</c:v>
                </c:pt>
                <c:pt idx="5">
                  <c:v>0.26</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2"/>
        <c:crosses val="autoZero"/>
        <c:auto val="1"/>
        <c:lblAlgn val="ctr"/>
        <c:noMultiLvlLbl val="1"/>
      </c:catAx>
      <c:valAx>
        <c:axId val="2094734552"/>
        <c:scaling>
          <c:orientation val="minMax"/>
          <c:max val="1.6"/>
          <c:min val="-1.2"/>
        </c:scaling>
        <c:delete val="0"/>
        <c:axPos val="l"/>
        <c:majorGridlines>
          <c:spPr>
            <a:ln w="6350" cap="flat">
              <a:solidFill>
                <a:srgbClr val="D9DF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Sharpe Ratio bei drei Gebührenstufen</a:t>
            </a:r>
          </a:p>
        </c:rich>
      </c:tx>
      <c:layout/>
      <c:overlay val="0"/>
    </c:title>
    <c:autoTitleDeleted val="0"/>
    <c:plotArea>
      <c:layout/>
      <c:barChart>
        <c:barDir val="col"/>
        <c:grouping val="clustered"/>
        <c:varyColors val="0"/>
        <c:ser>
          <c:idx val="0"/>
          <c:order val="0"/>
          <c:tx>
            <c:strRef>
              <c:f>Sheet1!$B$1</c:f>
              <c:strCache>
                <c:ptCount val="1"/>
                <c:pt idx="0">
                  <c:v>0.10 %</c:v>
                </c:pt>
              </c:strCache>
            </c:strRef>
          </c:tx>
          <c:spPr>
            <a:solidFill>
              <a:srgbClr val="5B7083"/>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cat>
            <c:multiLvlStrRef>
              <c:f>Sheet1!$A$2:$A$7</c:f>
              <c:multiLvlStrCache>
                <c:ptCount val="6"/>
                <c:lvl>
                  <c:pt idx="0">
                    <c:v>S1 Opt</c:v>
                  </c:pt>
                  <c:pt idx="1">
                    <c:v>S2 Std</c:v>
                  </c:pt>
                  <c:pt idx="2">
                    <c:v>S2 Opt</c:v>
                  </c:pt>
                  <c:pt idx="3">
                    <c:v>S4 Opt</c:v>
                  </c:pt>
                  <c:pt idx="4">
                    <c:v>Ens Opt</c:v>
                  </c:pt>
                  <c:pt idx="5">
                    <c:v>Buy &amp; Hold</c:v>
                  </c:pt>
                </c:lvl>
              </c:multiLvlStrCache>
            </c:multiLvlStrRef>
          </c:cat>
          <c:val>
            <c:numRef>
              <c:f>Sheet1!$B$2:$B$7</c:f>
              <c:numCache>
                <c:formatCode>General</c:formatCode>
                <c:ptCount val="6"/>
                <c:pt idx="0">
                  <c:v>0.805</c:v>
                </c:pt>
                <c:pt idx="1">
                  <c:v>0.738</c:v>
                </c:pt>
                <c:pt idx="2">
                  <c:v>0.952</c:v>
                </c:pt>
                <c:pt idx="3">
                  <c:v>1.409</c:v>
                </c:pt>
                <c:pt idx="4">
                  <c:v>1.188</c:v>
                </c:pt>
                <c:pt idx="5">
                  <c:v>0.439</c:v>
                </c:pt>
              </c:numCache>
            </c:numRef>
          </c:val>
        </c:ser>
        <c:ser>
          <c:idx val="1"/>
          <c:order val="1"/>
          <c:tx>
            <c:strRef>
              <c:f>Sheet1!$C$1</c:f>
              <c:strCache>
                <c:ptCount val="1"/>
                <c:pt idx="0">
                  <c:v>0.15 %</c:v>
                </c:pt>
              </c:strCache>
            </c:strRef>
          </c:tx>
          <c:spPr>
            <a:solidFill>
              <a:srgbClr val="F7931A"/>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cat>
            <c:multiLvlStrRef>
              <c:f>Sheet1!$A$2:$A$7</c:f>
              <c:multiLvlStrCache>
                <c:ptCount val="6"/>
                <c:lvl>
                  <c:pt idx="0">
                    <c:v>S1 Opt</c:v>
                  </c:pt>
                  <c:pt idx="1">
                    <c:v>S2 Std</c:v>
                  </c:pt>
                  <c:pt idx="2">
                    <c:v>S2 Opt</c:v>
                  </c:pt>
                  <c:pt idx="3">
                    <c:v>S4 Opt</c:v>
                  </c:pt>
                  <c:pt idx="4">
                    <c:v>Ens Opt</c:v>
                  </c:pt>
                  <c:pt idx="5">
                    <c:v>Buy &amp; Hold</c:v>
                  </c:pt>
                </c:lvl>
              </c:multiLvlStrCache>
            </c:multiLvlStrRef>
          </c:cat>
          <c:val>
            <c:numRef>
              <c:f>Sheet1!$C$2:$C$7</c:f>
              <c:numCache>
                <c:formatCode>General</c:formatCode>
                <c:ptCount val="6"/>
                <c:pt idx="0">
                  <c:v>0.803</c:v>
                </c:pt>
                <c:pt idx="1">
                  <c:v>0.703</c:v>
                </c:pt>
                <c:pt idx="2">
                  <c:v>0.912</c:v>
                </c:pt>
                <c:pt idx="3">
                  <c:v>1.405</c:v>
                </c:pt>
                <c:pt idx="4">
                  <c:v>1.171</c:v>
                </c:pt>
                <c:pt idx="5">
                  <c:v>0.438</c:v>
                </c:pt>
              </c:numCache>
            </c:numRef>
          </c:val>
        </c:ser>
        <c:ser>
          <c:idx val="2"/>
          <c:order val="2"/>
          <c:tx>
            <c:strRef>
              <c:f>Sheet1!$D$1</c:f>
              <c:strCache>
                <c:ptCount val="1"/>
                <c:pt idx="0">
                  <c:v>0.25 %</c:v>
                </c:pt>
              </c:strCache>
            </c:strRef>
          </c:tx>
          <c:spPr>
            <a:solidFill>
              <a:srgbClr val="D64545"/>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cat>
            <c:multiLvlStrRef>
              <c:f>Sheet1!$A$2:$A$7</c:f>
              <c:multiLvlStrCache>
                <c:ptCount val="6"/>
                <c:lvl>
                  <c:pt idx="0">
                    <c:v>S1 Opt</c:v>
                  </c:pt>
                  <c:pt idx="1">
                    <c:v>S2 Std</c:v>
                  </c:pt>
                  <c:pt idx="2">
                    <c:v>S2 Opt</c:v>
                  </c:pt>
                  <c:pt idx="3">
                    <c:v>S4 Opt</c:v>
                  </c:pt>
                  <c:pt idx="4">
                    <c:v>Ens Opt</c:v>
                  </c:pt>
                  <c:pt idx="5">
                    <c:v>Buy &amp; Hold</c:v>
                  </c:pt>
                </c:lvl>
              </c:multiLvlStrCache>
            </c:multiLvlStrRef>
          </c:cat>
          <c:val>
            <c:numRef>
              <c:f>Sheet1!$D$2:$D$7</c:f>
              <c:numCache>
                <c:formatCode>General</c:formatCode>
                <c:ptCount val="6"/>
                <c:pt idx="0">
                  <c:v>0.8</c:v>
                </c:pt>
                <c:pt idx="1">
                  <c:v>0.634</c:v>
                </c:pt>
                <c:pt idx="2">
                  <c:v>0.832</c:v>
                </c:pt>
                <c:pt idx="3">
                  <c:v>1.397</c:v>
                </c:pt>
                <c:pt idx="4">
                  <c:v>1.137</c:v>
                </c:pt>
                <c:pt idx="5">
                  <c:v>0.438</c:v>
                </c:pt>
              </c:numCache>
            </c:numRef>
          </c:val>
        </c:ser>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D9DF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757"/>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Präsentation ist eine Einführung ins Projekt für das ganze Team. Sie erklärt, was der Bot macht, wie er aufgebaut ist, welche Entscheide getroffen wurden und warum, wo wir stehen und wie man ihn bedient. Die Folien sind zum Selberlesen gedacht; die Notizen enthalten zusätzliche Erklärungen.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Fragestellung hat drei Teile. Teil 1 ist die Performance-Frage: Sharpe Ratio (Rendite pro Risiko) und Max Drawdown (grösster Verlust) im Vergleich zu Buy &amp; Hold. Entscheidend ist der Out-of-Sample-Zeitraum, also Daten, die wir beim Entwickeln nie angeschaut haben. Teil 2 fragt nach Einflussfaktoren: Funktioniert eine Strategie nur im Aufwärtsmarkt? Hängt der Erfolg stark von den Parametern ab? Teil 3 ist speziell: Der Code selbst ist Untersuchungsgegenstand. Deshalb dokumentieren wir jeden Prompt (prompt_log.md) und jeden Fehler (ki_fehlerlog.csv).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sind nach Schritt 2. Der Tag v0.1-ki-unreviewed markiert den KI-Code, wie er ohne menschliche Prüfung entstanden ist. Jetzt kommt das Review: Ihr prüft den Code mit der Checkliste. Jeder Fehler wird im Fehlerlog dokumentiert und in einem eigenen Commit mit 'fix(review):' behoben. So kann man später zeigen, was die KI falsch gemacht hat und wie sich die Kennzahlen dadurch verändert haben. Erst wenn Review und Entscheide abgeschlossen sind, wird der Out-of-Sample-Test genau einmal ausgeführt.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das wichtigste Bild zum Verstehen. 1) Daten: scripts/fetch_data.py lädt die Kurse, prüft sie (Lücken, Duplikate, unmögliche Preise) und speichert einen bereinigten Datensatz. 2) Strategie: jede Strategie ist eine Klasse mit der Methode generate_exposure. Sie gibt pro Tag eine Zahl zwischen 0 und 1 zurück: 0 = Cash, 1 = voll investiert. 3) Backtester: nimmt diese Zahlenreihe und rechnet aus, wie sich das Kapital entwickelt hätte, inklusive Gebühren. 4) Kennzahlen: fassen die Kapitalkurve in wenigen Zahlen zusammen. 5) Vergleich: alles wird gegen Buy &amp; Hold gestellt, gesamt und getrennt nach Bull- und Bear-Phasen. Die Strategie weiss nichts vom Backtester und umgekehrt; das macht beide einzeln testbar.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Binance ist die Hauptquelle, weil wir BTC/USDT handeln. Binance gibt es aber erst ab August 2017. Für Indikatoren wie den 200-Tage-Durchschnitt brauchen wir vorher Daten, deshalb Bitstamp ab 2016. Bitstamp ist in USD statt USDT; die Abweichung ist im Mittel 0.8 % und für einen Durchschnitt vernachlässigbar. Jede Rohdatei hat eine SHA256-Prüfsumme in docs/data_checksums.txt; so ist nachweisbar, dass alle mit denselben Daten rechnen. Den vollständigen Prüfbericht findet ihr in results/data_validation.md.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das wichtigste methodische Prinzip der Arbeit. In-Sample (IS) = Daten, auf denen wir entwickeln und Parameter optimieren. Out-of-Sample (OOS) = Daten, die das Modell nie gesehen hat. Nur das OOS-Resultat beantwortet die Fragestellung ehrlich. Die IS-Resultate der optimierten Varianten sind zwangsläufig zu gut, weil die Parameter genau auf diese Daten zugeschnitten sind. Die Sperre ist technisch erzwungen (dataset.py, Funktion _check_oos_access) und wird von Tests geprüft.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Tagesdaten kennt man den Schlusskurs erst, wenn der Tag vorbei ist. Deshalb darf eine Entscheidung, die auf dem Schlusskurs von Tag t basiert, frühestens die Rendite von Tag t+1 beeinflussen. Der Backtester erzwingt das mit shift(1). Wichtig: shift(1) schützt nur davor, dass ein Signal am selben Tag wirkt. Würde eine Strategie den Kurs von morgen verwenden (z. B. mit shift(-1)), könnte der Backtester das nicht merken. Darum gibt es zusätzlich den Kausalitätstest in tests/test_strategies.py: Man berechnet die Strategie einmal mit allen Daten und einmal mit abgeschnittenen Daten; bis zum Schnittpunkt muss das Ergebnis identisch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Strategien decken vier verschiedene Ideen ab. S1 Trendfolge: Golden Cross / Death Cross, der Klassiker. S2 Time-Series-Momentum: was gestiegen ist, steigt oft weiter; der ATR-Filter (Average True Range = durchschnittliche Tagesschwankung) steigt aus, wenn der Markt nervös wird. S3 Mean Reversion: nach einem starken Rückgang (RSI = Relative Strength Index, misst Stärke der letzten Bewegungen) kommt oft eine Erholung; aber nur im Aufwärtstrend kaufen, damit man nicht ins fallende Messer greift. S4 Sentiment: Stimmung als Signal, kombiniert mit einem Trendfilter. Alle Strategien haben eine Zustandslogik: Aus Cash wird nur die Einstiegsregel geprüft, investiert nur die Ausstiegsregel. Die Standardparameter stehen in config/strategies.yaml, der Code in src/bot/strategies/.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Idee des Ensembles: Wenn die Strategien zu verschiedenen Zeiten richtig liegen, glättet die Kombination die Kapitalkurve. Eine Vereinfachung (Entscheid E22): Bei 50 % Exposure wird angenommen, dass jeden Tag genau 50 % investiert sind, ohne Kosten für dieses Nachjustieren. Buy &amp; Hold ist der Massstab der Fragestellung. Damit der Vergleich fair ist, zahlt Buy &amp; Hold dieselbe Gebühr beim Einstieg und startet am selben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Sharpe Ratio: Wie viel Rendite bekommt man pro Risiko? Risiko wird als Schwankung gemessen. Wir rechnen mit täglichen Renditen und multiplizieren mit Wurzel 365, weil Krypto jeden Tag handelt (Aktien: 252). Der risikofreie Zins ist 0 (settings.yaml). Sortino: Nur Abwärtsschwankung zählt; die Formel teilt durch alle Tage, positive Tage zählen mit 0 (Sortino &amp; Price 1994). Max Drawdown: z. B. −81 % bei Buy &amp; Hold heisst, dass man zwischenzeitlich 81 % des Kapitals verloren hatte. Zusätzlich berechnet werden: Volatilität, Anzahl Trades, Trefferquote, Investitionsgrad und Summe der Kosten. Alle Formeln stehen im Docstring in src/bot/analysis/metrics.py.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Overfitting: Wer genug Kombinationen ausprobiert, findet immer eine, die in der Vergangenheit gut aussieht, auch wenn sie reiner Zufall ist. Drei Werkzeuge dagegen. 1) Wir optimieren nur auf In-Sample. 2) Plateau-Check: Wir schauen die direkten Nachbarn der besten Kombination im Grid an. Ist deren Durchschnitt fast so gut, liegt das Optimum auf einem Plateau (robust). Ist er viel schlechter, ist es eine Spitze (verdächtig). 3) Deflated Sharpe Ratio nach Bailey &amp; López de Prado (2014): Sie rechnet heraus, welche Sharpe Ratio man allein durch Zufall als Maximum von 100 Versuchen erwarten würde, und gibt die Wahrscheinlichkeit an, dass die gefundene Sharpe darüber liegt. Nahe 1 = glaubwürdig, nahe 0 = wahrscheinlich Glück.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Ausnahme von S3 Standard liegt jede Variante über Buy &amp; Hold (0.44). S3 Standard hat in 5 Jahren nur 2 Trades gemacht, beide mit Verlust; die Bedingung RSI &lt; 30 im Aufwärtstrend kommt einfach sehr selten vor. Der Vergleich Standard vs. optimiert ist In-Sample unfair zugunsten der optimierten Varianten. Die spannende Frage für den OOS-Test ist, wie viel von diesem Vorsprung übrig bleibt. Quelle: results/insample_summary.csv bzw. Dashboard-Seite Strategien.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 &amp; Hold verlor zwischen Januar 2018 und Dezember 2018 81 %. Die Strategien steigen in langen Abwärtsphasen aus und haben deshalb kleinere Drawdowns. S3 Standard hat den kleinsten Drawdown, aber nur, weil sie fast nie investiert war. Auf der Kapitalkurve sieht man die Cash-Phasen als flache Linien, z. B. 2022, als Bitcoin stark fiel. Ein Drawdown von −70 % bei S1/S2 Standard zeigt aber auch: Einige Strategien schützen nur teilweise.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Tabelle stammt aus results/optimization/best_params.yaml. S2 und S4 zeigen ein Plateau: Auch die benachbarten Parameter funktionieren gut. Das spricht dafür, dass die Strategie-Idee trägt und nicht nur ein Parameter Glück hatte. S3 ist das Gegenbeispiel: Die beste Kombination ist von schlechten Nachbarn umgeben; die DSR von 0.33 sagt, dass das Resultat gut durch Zufall erklärbar ist. Für die Fragestellung (Einfluss der Parameterwahl) ist genau dieser Unterschied interessant. Offene Frage an das Team: Gilt die DSR mit 100 Versuchen pro Strategie oder mit allen 400? Mit 400 sinken alle Werte stark.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beantwortet den Teil der Fragestellung zur Marktphase. Die Einteilung verwendet den Vortag (Close t−1 vs. SMA200 t−1), damit sie zu Beginn jedes Tages schon feststeht. Die Kennzahlen pro Phase entstehen, indem man nur die Tage dieser Phase aneinanderhängt. Interessante Beobachtung bei Buy &amp; Hold: Im Bear-Markt ist die Sharpe Ratio positiv, die Rendite aber negativ. Das ist kein Fehler: Die Sharpe Ratio verwendet den arithmetischen Durchschnitt der Tagesrenditen; bei hoher Schwankung kann dieser positiv sein, während das Kapital (geometrisch) schrumpft. Daten: Dashboard-Seite Marktphasen bzw. insample_summary.csv.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Transaktionskosten sind Teil der Fragestellung. Wir rechnen mit 0.1 % pro Positionsänderung (typische Binance-Gebühr) und testen 0.15 % und 0.25 % als Szenarien, die auch Slippage (Preisabweichung bei der Ausführung) abdecken sollen. Je mehr Trades, desto stärker wirken höhere Gebühren. Quelle: results/insample_costs.csv.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Entscheide sind nummeriert (E1 bis E32) und stehen mit Begründung und Status in docs/entscheidungen.md. Status 'offen' heisst: Das Team soll bestätigen. Auf diesen drei Folien stehen die wichtigsten, gruppiert nach Thema. Daten: Kern ist, dass nie Informationen aus der Zukunft in die Vergangenheit gelangen dürfen (kein Backward-Fill, F&amp;G verzögert, UTC). Die Reproduzierbarkeit (E8, Prüfsummen) ist wichtig, damit ein Lehrer oder Experte die Resultate nachrechnen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Entscheide bestimmen, wie fair der Vergleich ist. E19 und E22 hat das Team bestätigt. E20: Heute wird am Ende nicht verkauft. Vorschlag aus dem Team: am Ende einen Verkauf simulieren und nochmals 0.1 % abziehen, für alle Varianten gleich. Das muss noch bestätigt und eingebaut werden; die Zahlen auf den Ergebnisfolien sind ohne diese Schlussgebühr. Der Effekt ist klein (höchstens 0.1 % Endkapital). E21: Exakt wäre (1 − Gebühr) × (1 + Rendite); wir ziehen die Gebühr einfach ab. Der Unterschied ist pro Trade etwa 0.001 × Tagesrendite und damit vernachlässigbar.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E25 ist die grösste offene Methodenfrage: Wir haben 4 Strategien mit je 100 Kombinationen getestet. Zählt man pro Strategie (100 Versuche), sind S2 und S4 glaubwürdig. Zählt man alles zusammen (400 Versuche), ist keine Strategie mehr statistisch überzeugend. Beides lässt sich begründen; wichtig ist, die Wahl in der Arbeit offen zu diskutieren. Die übrigen offenen Entscheide sind Standardkonventionen, die ihr beim Review nur bestätigen müsst.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Testergebnis anschauen: Beim Start mit start.bat steht bei Schritt 2 '91 passed'. Die Testabdeckung pro Datei öffnet ihr mit htmlcov/index.html im Browser: grüne Zeilen werden von Tests ausgeführt, rote nicht. Die Tests selbst liegen in tests/, jeder hat einen deutschen Docstring mit Handrechnung. Wichtig für die Arbeit: Tests zeigen nur, dass der Code macht, was spezifiziert ist. Ob die Spezifikation fachlich richtig ist, muss das Review klären. Darum ist das Team-Review der nächste Schritt.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start.bat liegt im Projektordner. Doppelklick genügt; das schwarze Fenster zeigt jeden Schritt mit 'Schritt X OK'. Bricht etwas ab, steht 'ABBRUCH in Schritt X' mit der Fehlermeldung darüber. Das Dashboard beendet man mit Ctrl+C im schwarzen Fenster. Ohne Doppelklick: python -m uv run python scripts/run_all.py (Optionen --refresh für neuen Download, --no-dashboard). Der OOS-Test ist absichtlich NICHT in start.bat enthalten; er wird einmal von Hand gestartet, siehe docs/anleitung.md Abschnitt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Reihenfolge ist wichtig: Erst Review und Entscheide, dann OOS. Nach dem OOS-Test dürfen keine Parameter mehr geändert werden, sonst ist der Test wertlos.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1069848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BMA Bitcoin-Trading-Bot · Projekteinführung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IT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6032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BMA Bitcoin-Trading-Bot</a:t>
            </a:r>
            <a:endParaRPr lang="en-US" sz="4400" dirty="0"/>
          </a:p>
        </p:txBody>
      </p:sp>
      <p:sp>
        <p:nvSpPr>
          <p:cNvPr id="3"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Projekteinführung: Idee, Aufbau, Entscheide, Stand und Bedienung</a:t>
            </a:r>
            <a:endParaRPr lang="en-US" sz="2000" dirty="0"/>
          </a:p>
          <a:p>
            <a:pPr indent="0" marL="0">
              <a:buNone/>
            </a:pPr>
            <a:r>
              <a:rPr lang="en-US" sz="2000" dirty="0">
                <a:solidFill>
                  <a:schemeClr val="accent6"/>
                </a:solidFill>
              </a:rPr>
              <a:t>Stand 19.10.2026 · In-Sample abgeschlossen, Review offen</a:t>
            </a:r>
            <a:endParaRPr lang="en-US" sz="2000" dirty="0"/>
          </a:p>
        </p:txBody>
      </p:sp>
      <p:sp>
        <p:nvSpPr>
          <p:cNvPr id="4" name="kreis-1"/>
          <p:cNvSpPr/>
          <p:nvPr/>
        </p:nvSpPr>
        <p:spPr>
          <a:xfrm>
            <a:off x="731520" y="1097280"/>
            <a:ext cx="731520" cy="731520"/>
          </a:xfrm>
          <a:prstGeom prst="ellipse">
            <a:avLst/>
          </a:prstGeom>
          <a:solidFill>
            <a:schemeClr val="accent1"/>
          </a:solidFill>
          <a:ln w="12700">
            <a:solidFill>
              <a:schemeClr val="accent1"/>
            </a:solidFill>
            <a:prstDash val="solid"/>
          </a:ln>
        </p:spPr>
      </p:sp>
      <p:sp>
        <p:nvSpPr>
          <p:cNvPr id="5" name="kreis-text-2"/>
          <p:cNvSpPr txBox="1"/>
          <p:nvPr/>
        </p:nvSpPr>
        <p:spPr>
          <a:xfrm>
            <a:off x="731520" y="10972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Unsere Fragestellung</a:t>
            </a:r>
            <a:endParaRPr lang="en-US" sz="3200" dirty="0"/>
          </a:p>
        </p:txBody>
      </p:sp>
      <p:sp>
        <p:nvSpPr>
          <p:cNvPr id="3" name="zitat-box-3"/>
          <p:cNvSpPr/>
          <p:nvPr/>
        </p:nvSpPr>
        <p:spPr>
          <a:xfrm>
            <a:off x="548640" y="1280160"/>
            <a:ext cx="11064240" cy="1737360"/>
          </a:xfrm>
          <a:prstGeom prst="roundRect">
            <a:avLst>
              <a:gd name="adj" fmla="val 4211"/>
            </a:avLst>
          </a:prstGeom>
          <a:solidFill>
            <a:schemeClr val="tx1"/>
          </a:solidFill>
          <a:ln w="12700">
            <a:solidFill>
              <a:schemeClr val="tx1"/>
            </a:solidFill>
            <a:prstDash val="solid"/>
          </a:ln>
        </p:spPr>
      </p:sp>
      <p:sp>
        <p:nvSpPr>
          <p:cNvPr id="4" name="text-4"/>
          <p:cNvSpPr txBox="1"/>
          <p:nvPr/>
        </p:nvSpPr>
        <p:spPr>
          <a:xfrm>
            <a:off x="822960" y="1417320"/>
            <a:ext cx="10515600" cy="1463040"/>
          </a:xfrm>
          <a:prstGeom prst="rect">
            <a:avLst/>
          </a:prstGeom>
          <a:noFill/>
          <a:ln/>
        </p:spPr>
        <p:txBody>
          <a:bodyPr wrap="square" lIns="0" tIns="0" rIns="0" bIns="0" rtlCol="0" anchor="ctr"/>
          <a:lstStyle/>
          <a:p>
            <a:pPr indent="0" marL="0">
              <a:buNone/>
            </a:pPr>
            <a:r>
              <a:rPr lang="en-US" sz="1600" i="1" dirty="0">
                <a:solidFill>
                  <a:schemeClr val="bg1"/>
                </a:solidFill>
              </a:rPr>
              <a:t>«Inwiefern lässt sich mithilfe von KI-gestützter Softwareentwicklung ein regelbasierter Trading-Bot für Bitcoin realisieren, der im Backtesting (BTC/USDT, Tagesdaten 2018–2025, inkl. Transaktionskosten) auf einem Out-of-Sample-Zeitraum eine höhere risikoadjustierte Performance (Sharpe Ratio, Max Drawdown) als eine Buy-&amp;-Hold-Strategie erzielt, und welchen Einfluss haben Marktphase, Parameterwahl und die Qualität des KI-generierten Codes auf den Erfolg oder Misserfolg?»</a:t>
            </a:r>
            <a:endParaRPr lang="en-US" sz="1600" dirty="0"/>
          </a:p>
        </p:txBody>
      </p:sp>
      <p:sp>
        <p:nvSpPr>
          <p:cNvPr id="5" name="kreis-5"/>
          <p:cNvSpPr/>
          <p:nvPr/>
        </p:nvSpPr>
        <p:spPr>
          <a:xfrm>
            <a:off x="548640" y="3337560"/>
            <a:ext cx="548640" cy="548640"/>
          </a:xfrm>
          <a:prstGeom prst="ellipse">
            <a:avLst/>
          </a:prstGeom>
          <a:solidFill>
            <a:schemeClr val="accent1"/>
          </a:solidFill>
          <a:ln w="12700">
            <a:solidFill>
              <a:schemeClr val="accent1"/>
            </a:solidFill>
            <a:prstDash val="solid"/>
          </a:ln>
        </p:spPr>
      </p:sp>
      <p:sp>
        <p:nvSpPr>
          <p:cNvPr id="6" name="kreis-text-6"/>
          <p:cNvSpPr txBox="1"/>
          <p:nvPr/>
        </p:nvSpPr>
        <p:spPr>
          <a:xfrm>
            <a:off x="54864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karte-7"/>
          <p:cNvSpPr/>
          <p:nvPr/>
        </p:nvSpPr>
        <p:spPr>
          <a:xfrm>
            <a:off x="548640" y="4023360"/>
            <a:ext cx="3566160" cy="2148840"/>
          </a:xfrm>
          <a:prstGeom prst="roundRect">
            <a:avLst>
              <a:gd name="adj" fmla="val 3404"/>
            </a:avLst>
          </a:prstGeom>
          <a:solidFill>
            <a:schemeClr val="bg2"/>
          </a:solidFill>
          <a:ln w="12700">
            <a:solidFill>
              <a:schemeClr val="bg2"/>
            </a:solidFill>
            <a:prstDash val="solid"/>
          </a:ln>
        </p:spPr>
      </p:sp>
      <p:sp>
        <p:nvSpPr>
          <p:cNvPr id="8" name="karte-text-8"/>
          <p:cNvSpPr txBox="1"/>
          <p:nvPr/>
        </p:nvSpPr>
        <p:spPr>
          <a:xfrm>
            <a:off x="731520" y="4160520"/>
            <a:ext cx="3200400" cy="1874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Schlägt der Bot Buy &amp; Hold?</a:t>
            </a:r>
            <a:endParaRPr lang="en-US" sz="1700" dirty="0"/>
          </a:p>
          <a:p>
            <a:pPr indent="0" marL="0">
              <a:spcAft>
                <a:spcPts val="400"/>
              </a:spcAft>
              <a:buNone/>
            </a:pPr>
            <a:r>
              <a:rPr lang="en-US" sz="1400" dirty="0">
                <a:solidFill>
                  <a:schemeClr val="tx2"/>
                </a:solidFill>
              </a:rPr>
              <a:t>Gemessen an Sharpe Ratio und Max Drawdown, nach Gebühren, auf Daten, die beim Entwickeln gesperrt waren (2023–2025).</a:t>
            </a:r>
            <a:endParaRPr lang="en-US" sz="1700" dirty="0"/>
          </a:p>
        </p:txBody>
      </p:sp>
      <p:sp>
        <p:nvSpPr>
          <p:cNvPr id="9" name="kreis-9"/>
          <p:cNvSpPr/>
          <p:nvPr/>
        </p:nvSpPr>
        <p:spPr>
          <a:xfrm>
            <a:off x="4297680" y="3337560"/>
            <a:ext cx="548640" cy="548640"/>
          </a:xfrm>
          <a:prstGeom prst="ellipse">
            <a:avLst/>
          </a:prstGeom>
          <a:solidFill>
            <a:schemeClr val="accent1"/>
          </a:solidFill>
          <a:ln w="12700">
            <a:solidFill>
              <a:schemeClr val="accent1"/>
            </a:solidFill>
            <a:prstDash val="solid"/>
          </a:ln>
        </p:spPr>
      </p:sp>
      <p:sp>
        <p:nvSpPr>
          <p:cNvPr id="10" name="kreis-text-10"/>
          <p:cNvSpPr txBox="1"/>
          <p:nvPr/>
        </p:nvSpPr>
        <p:spPr>
          <a:xfrm>
            <a:off x="429768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karte-11"/>
          <p:cNvSpPr/>
          <p:nvPr/>
        </p:nvSpPr>
        <p:spPr>
          <a:xfrm>
            <a:off x="4297680" y="4023360"/>
            <a:ext cx="3566160" cy="2148840"/>
          </a:xfrm>
          <a:prstGeom prst="roundRect">
            <a:avLst>
              <a:gd name="adj" fmla="val 3404"/>
            </a:avLst>
          </a:prstGeom>
          <a:solidFill>
            <a:schemeClr val="bg2"/>
          </a:solidFill>
          <a:ln w="12700">
            <a:solidFill>
              <a:schemeClr val="bg2"/>
            </a:solidFill>
            <a:prstDash val="solid"/>
          </a:ln>
        </p:spPr>
      </p:sp>
      <p:sp>
        <p:nvSpPr>
          <p:cNvPr id="12" name="karte-text-12"/>
          <p:cNvSpPr txBox="1"/>
          <p:nvPr/>
        </p:nvSpPr>
        <p:spPr>
          <a:xfrm>
            <a:off x="4480560" y="4160520"/>
            <a:ext cx="3200400" cy="1874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Was beeinflusst den Erfolg?</a:t>
            </a:r>
            <a:endParaRPr lang="en-US" sz="1700" dirty="0"/>
          </a:p>
          <a:p>
            <a:pPr indent="0" marL="0">
              <a:spcAft>
                <a:spcPts val="400"/>
              </a:spcAft>
              <a:buNone/>
            </a:pPr>
            <a:r>
              <a:rPr lang="en-US" sz="1400" dirty="0">
                <a:solidFill>
                  <a:schemeClr val="tx2"/>
                </a:solidFill>
              </a:rPr>
              <a:t>Marktphase (Bull/Bear) und Parameterwahl (Standard vs. optimiert). Dafür gibt es die Marktphasen-Auswertung und die Optimierung.</a:t>
            </a:r>
            <a:endParaRPr lang="en-US" sz="1700" dirty="0"/>
          </a:p>
        </p:txBody>
      </p:sp>
      <p:sp>
        <p:nvSpPr>
          <p:cNvPr id="13" name="kreis-13"/>
          <p:cNvSpPr/>
          <p:nvPr/>
        </p:nvSpPr>
        <p:spPr>
          <a:xfrm>
            <a:off x="8046720" y="3337560"/>
            <a:ext cx="548640" cy="548640"/>
          </a:xfrm>
          <a:prstGeom prst="ellipse">
            <a:avLst/>
          </a:prstGeom>
          <a:solidFill>
            <a:schemeClr val="accent1"/>
          </a:solidFill>
          <a:ln w="12700">
            <a:solidFill>
              <a:schemeClr val="accent1"/>
            </a:solidFill>
            <a:prstDash val="solid"/>
          </a:ln>
        </p:spPr>
      </p:sp>
      <p:sp>
        <p:nvSpPr>
          <p:cNvPr id="14" name="kreis-text-14"/>
          <p:cNvSpPr txBox="1"/>
          <p:nvPr/>
        </p:nvSpPr>
        <p:spPr>
          <a:xfrm>
            <a:off x="804672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karte-15"/>
          <p:cNvSpPr/>
          <p:nvPr/>
        </p:nvSpPr>
        <p:spPr>
          <a:xfrm>
            <a:off x="8046720" y="4023360"/>
            <a:ext cx="3566160" cy="2148840"/>
          </a:xfrm>
          <a:prstGeom prst="roundRect">
            <a:avLst>
              <a:gd name="adj" fmla="val 3404"/>
            </a:avLst>
          </a:prstGeom>
          <a:solidFill>
            <a:schemeClr val="bg2"/>
          </a:solidFill>
          <a:ln w="12700">
            <a:solidFill>
              <a:schemeClr val="bg2"/>
            </a:solidFill>
            <a:prstDash val="solid"/>
          </a:ln>
        </p:spPr>
      </p:sp>
      <p:sp>
        <p:nvSpPr>
          <p:cNvPr id="16" name="karte-text-16"/>
          <p:cNvSpPr txBox="1"/>
          <p:nvPr/>
        </p:nvSpPr>
        <p:spPr>
          <a:xfrm>
            <a:off x="8229600" y="4160520"/>
            <a:ext cx="3200400" cy="1874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Wie gut ist KI-Code?</a:t>
            </a:r>
            <a:endParaRPr lang="en-US" sz="1700" dirty="0"/>
          </a:p>
          <a:p>
            <a:pPr indent="0" marL="0">
              <a:spcAft>
                <a:spcPts val="400"/>
              </a:spcAft>
              <a:buNone/>
            </a:pPr>
            <a:r>
              <a:rPr lang="en-US" sz="1400" dirty="0">
                <a:solidFill>
                  <a:schemeClr val="tx2"/>
                </a:solidFill>
              </a:rPr>
              <a:t>Der Code wurde von einer KI geschrieben. Jeder gefundene Fehler kommt ins KI-Fehlerlog: Das ist selbst Forschungsmaterial.</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Wo stehen wir? Schritt 3 von 5</a:t>
            </a:r>
            <a:endParaRPr lang="en-US" sz="3200" dirty="0"/>
          </a:p>
        </p:txBody>
      </p:sp>
      <p:sp>
        <p:nvSpPr>
          <p:cNvPr id="3" name="verbindung-17"/>
          <p:cNvSpPr/>
          <p:nvPr/>
        </p:nvSpPr>
        <p:spPr>
          <a:xfrm>
            <a:off x="1371600" y="1874520"/>
            <a:ext cx="1719072" cy="0"/>
          </a:xfrm>
          <a:prstGeom prst="line">
            <a:avLst/>
          </a:prstGeom>
          <a:noFill/>
          <a:ln w="25400">
            <a:solidFill>
              <a:srgbClr val="8C98A6"/>
            </a:solidFill>
            <a:prstDash val="solid"/>
          </a:ln>
        </p:spPr>
      </p:sp>
      <p:sp>
        <p:nvSpPr>
          <p:cNvPr id="4" name="kreis-18"/>
          <p:cNvSpPr/>
          <p:nvPr/>
        </p:nvSpPr>
        <p:spPr>
          <a:xfrm>
            <a:off x="822960" y="1600200"/>
            <a:ext cx="548640" cy="548640"/>
          </a:xfrm>
          <a:prstGeom prst="ellipse">
            <a:avLst/>
          </a:prstGeom>
          <a:solidFill>
            <a:schemeClr val="accent2"/>
          </a:solidFill>
          <a:ln w="12700">
            <a:solidFill>
              <a:schemeClr val="accent2"/>
            </a:solidFill>
            <a:prstDash val="solid"/>
          </a:ln>
        </p:spPr>
      </p:sp>
      <p:sp>
        <p:nvSpPr>
          <p:cNvPr id="5" name="kreis-text-19"/>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20"/>
          <p:cNvSpPr txBox="1"/>
          <p:nvPr/>
        </p:nvSpPr>
        <p:spPr>
          <a:xfrm>
            <a:off x="548640" y="2331720"/>
            <a:ext cx="2103120" cy="731520"/>
          </a:xfrm>
          <a:prstGeom prst="rect">
            <a:avLst/>
          </a:prstGeom>
          <a:noFill/>
          <a:ln/>
        </p:spPr>
        <p:txBody>
          <a:bodyPr wrap="square" lIns="0" tIns="0" rIns="0" bIns="0" rtlCol="0" anchor="t"/>
          <a:lstStyle/>
          <a:p>
            <a:pPr indent="0" marL="0">
              <a:buNone/>
            </a:pPr>
            <a:r>
              <a:rPr lang="en-US" sz="1600" b="1" dirty="0">
                <a:solidFill>
                  <a:schemeClr val="tx1"/>
                </a:solidFill>
              </a:rPr>
              <a:t>Datenpipeline</a:t>
            </a:r>
            <a:endParaRPr lang="en-US" sz="1600" dirty="0"/>
          </a:p>
        </p:txBody>
      </p:sp>
      <p:sp>
        <p:nvSpPr>
          <p:cNvPr id="7" name="text-21"/>
          <p:cNvSpPr txBox="1"/>
          <p:nvPr/>
        </p:nvSpPr>
        <p:spPr>
          <a:xfrm>
            <a:off x="548640" y="3063240"/>
            <a:ext cx="2103120" cy="320040"/>
          </a:xfrm>
          <a:prstGeom prst="rect">
            <a:avLst/>
          </a:prstGeom>
          <a:noFill/>
          <a:ln/>
        </p:spPr>
        <p:txBody>
          <a:bodyPr wrap="square" lIns="0" tIns="0" rIns="0" bIns="0" rtlCol="0" anchor="t"/>
          <a:lstStyle/>
          <a:p>
            <a:pPr indent="0" marL="0">
              <a:buNone/>
            </a:pPr>
            <a:r>
              <a:rPr lang="en-US" sz="1400" b="1" dirty="0">
                <a:solidFill>
                  <a:schemeClr val="accent2"/>
                </a:solidFill>
              </a:rPr>
              <a:t>fertig</a:t>
            </a:r>
            <a:endParaRPr lang="en-US" sz="1400" dirty="0"/>
          </a:p>
        </p:txBody>
      </p:sp>
      <p:sp>
        <p:nvSpPr>
          <p:cNvPr id="8" name="text-22"/>
          <p:cNvSpPr txBox="1"/>
          <p:nvPr/>
        </p:nvSpPr>
        <p:spPr>
          <a:xfrm>
            <a:off x="548640" y="3383280"/>
            <a:ext cx="2103120" cy="548640"/>
          </a:xfrm>
          <a:prstGeom prst="rect">
            <a:avLst/>
          </a:prstGeom>
          <a:noFill/>
          <a:ln/>
        </p:spPr>
        <p:txBody>
          <a:bodyPr wrap="square" lIns="0" tIns="0" rIns="0" bIns="0" rtlCol="0" anchor="t"/>
          <a:lstStyle/>
          <a:p>
            <a:pPr indent="0" marL="0">
              <a:buNone/>
            </a:pPr>
            <a:r>
              <a:rPr lang="en-US" sz="1300" dirty="0">
                <a:solidFill>
                  <a:schemeClr val="accent4"/>
                </a:solidFill>
              </a:rPr>
              <a:t>Commit 4c0a2f2</a:t>
            </a:r>
            <a:endParaRPr lang="en-US" sz="1300" dirty="0"/>
          </a:p>
        </p:txBody>
      </p:sp>
      <p:sp>
        <p:nvSpPr>
          <p:cNvPr id="9" name="verbindung-23"/>
          <p:cNvSpPr/>
          <p:nvPr/>
        </p:nvSpPr>
        <p:spPr>
          <a:xfrm>
            <a:off x="3639312" y="1874520"/>
            <a:ext cx="1719072" cy="0"/>
          </a:xfrm>
          <a:prstGeom prst="line">
            <a:avLst/>
          </a:prstGeom>
          <a:noFill/>
          <a:ln w="25400">
            <a:solidFill>
              <a:srgbClr val="8C98A6"/>
            </a:solidFill>
            <a:prstDash val="solid"/>
          </a:ln>
        </p:spPr>
      </p:sp>
      <p:sp>
        <p:nvSpPr>
          <p:cNvPr id="10" name="kreis-24"/>
          <p:cNvSpPr/>
          <p:nvPr/>
        </p:nvSpPr>
        <p:spPr>
          <a:xfrm>
            <a:off x="3090672" y="1600200"/>
            <a:ext cx="548640" cy="548640"/>
          </a:xfrm>
          <a:prstGeom prst="ellipse">
            <a:avLst/>
          </a:prstGeom>
          <a:solidFill>
            <a:schemeClr val="accent2"/>
          </a:solidFill>
          <a:ln w="12700">
            <a:solidFill>
              <a:schemeClr val="accent2"/>
            </a:solidFill>
            <a:prstDash val="solid"/>
          </a:ln>
        </p:spPr>
      </p:sp>
      <p:sp>
        <p:nvSpPr>
          <p:cNvPr id="11" name="kreis-text-25"/>
          <p:cNvSpPr txBox="1"/>
          <p:nvPr/>
        </p:nvSpPr>
        <p:spPr>
          <a:xfrm>
            <a:off x="3090672"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26"/>
          <p:cNvSpPr txBox="1"/>
          <p:nvPr/>
        </p:nvSpPr>
        <p:spPr>
          <a:xfrm>
            <a:off x="2816352" y="2331720"/>
            <a:ext cx="2103120" cy="731520"/>
          </a:xfrm>
          <a:prstGeom prst="rect">
            <a:avLst/>
          </a:prstGeom>
          <a:noFill/>
          <a:ln/>
        </p:spPr>
        <p:txBody>
          <a:bodyPr wrap="square" lIns="0" tIns="0" rIns="0" bIns="0" rtlCol="0" anchor="t"/>
          <a:lstStyle/>
          <a:p>
            <a:pPr indent="0" marL="0">
              <a:buNone/>
            </a:pPr>
            <a:r>
              <a:rPr lang="en-US" sz="1600" b="1" dirty="0">
                <a:solidFill>
                  <a:schemeClr val="tx1"/>
                </a:solidFill>
              </a:rPr>
              <a:t>Backtester, Strategien, Optimierung</a:t>
            </a:r>
            <a:endParaRPr lang="en-US" sz="1600" dirty="0"/>
          </a:p>
        </p:txBody>
      </p:sp>
      <p:sp>
        <p:nvSpPr>
          <p:cNvPr id="13" name="text-27"/>
          <p:cNvSpPr txBox="1"/>
          <p:nvPr/>
        </p:nvSpPr>
        <p:spPr>
          <a:xfrm>
            <a:off x="2816352" y="3063240"/>
            <a:ext cx="2103120" cy="320040"/>
          </a:xfrm>
          <a:prstGeom prst="rect">
            <a:avLst/>
          </a:prstGeom>
          <a:noFill/>
          <a:ln/>
        </p:spPr>
        <p:txBody>
          <a:bodyPr wrap="square" lIns="0" tIns="0" rIns="0" bIns="0" rtlCol="0" anchor="t"/>
          <a:lstStyle/>
          <a:p>
            <a:pPr indent="0" marL="0">
              <a:buNone/>
            </a:pPr>
            <a:r>
              <a:rPr lang="en-US" sz="1400" b="1" dirty="0">
                <a:solidFill>
                  <a:schemeClr val="accent2"/>
                </a:solidFill>
              </a:rPr>
              <a:t>fertig</a:t>
            </a:r>
            <a:endParaRPr lang="en-US" sz="1400" dirty="0"/>
          </a:p>
        </p:txBody>
      </p:sp>
      <p:sp>
        <p:nvSpPr>
          <p:cNvPr id="14" name="text-28"/>
          <p:cNvSpPr txBox="1"/>
          <p:nvPr/>
        </p:nvSpPr>
        <p:spPr>
          <a:xfrm>
            <a:off x="2816352" y="3383280"/>
            <a:ext cx="2103120" cy="548640"/>
          </a:xfrm>
          <a:prstGeom prst="rect">
            <a:avLst/>
          </a:prstGeom>
          <a:noFill/>
          <a:ln/>
        </p:spPr>
        <p:txBody>
          <a:bodyPr wrap="square" lIns="0" tIns="0" rIns="0" bIns="0" rtlCol="0" anchor="t"/>
          <a:lstStyle/>
          <a:p>
            <a:pPr indent="0" marL="0">
              <a:buNone/>
            </a:pPr>
            <a:r>
              <a:rPr lang="en-US" sz="1300" dirty="0">
                <a:solidFill>
                  <a:schemeClr val="accent4"/>
                </a:solidFill>
              </a:rPr>
              <a:t>Tag v0.1-ki-unreviewed</a:t>
            </a:r>
            <a:endParaRPr lang="en-US" sz="1300" dirty="0"/>
          </a:p>
        </p:txBody>
      </p:sp>
      <p:sp>
        <p:nvSpPr>
          <p:cNvPr id="15" name="verbindung-29"/>
          <p:cNvSpPr/>
          <p:nvPr/>
        </p:nvSpPr>
        <p:spPr>
          <a:xfrm>
            <a:off x="5907024" y="1874520"/>
            <a:ext cx="1719072" cy="0"/>
          </a:xfrm>
          <a:prstGeom prst="line">
            <a:avLst/>
          </a:prstGeom>
          <a:noFill/>
          <a:ln w="25400">
            <a:solidFill>
              <a:srgbClr val="8C98A6"/>
            </a:solidFill>
            <a:prstDash val="solid"/>
          </a:ln>
        </p:spPr>
      </p:sp>
      <p:sp>
        <p:nvSpPr>
          <p:cNvPr id="16" name="kreis-30"/>
          <p:cNvSpPr/>
          <p:nvPr/>
        </p:nvSpPr>
        <p:spPr>
          <a:xfrm>
            <a:off x="5358384" y="1600200"/>
            <a:ext cx="548640" cy="548640"/>
          </a:xfrm>
          <a:prstGeom prst="ellipse">
            <a:avLst/>
          </a:prstGeom>
          <a:solidFill>
            <a:schemeClr val="accent1"/>
          </a:solidFill>
          <a:ln w="12700">
            <a:solidFill>
              <a:schemeClr val="accent1"/>
            </a:solidFill>
            <a:prstDash val="solid"/>
          </a:ln>
        </p:spPr>
      </p:sp>
      <p:sp>
        <p:nvSpPr>
          <p:cNvPr id="17" name="kreis-text-31"/>
          <p:cNvSpPr txBox="1"/>
          <p:nvPr/>
        </p:nvSpPr>
        <p:spPr>
          <a:xfrm>
            <a:off x="5358384"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32"/>
          <p:cNvSpPr txBox="1"/>
          <p:nvPr/>
        </p:nvSpPr>
        <p:spPr>
          <a:xfrm>
            <a:off x="5084064" y="2331720"/>
            <a:ext cx="2103120" cy="731520"/>
          </a:xfrm>
          <a:prstGeom prst="rect">
            <a:avLst/>
          </a:prstGeom>
          <a:noFill/>
          <a:ln/>
        </p:spPr>
        <p:txBody>
          <a:bodyPr wrap="square" lIns="0" tIns="0" rIns="0" bIns="0" rtlCol="0" anchor="t"/>
          <a:lstStyle/>
          <a:p>
            <a:pPr indent="0" marL="0">
              <a:buNone/>
            </a:pPr>
            <a:r>
              <a:rPr lang="en-US" sz="1600" b="1" dirty="0">
                <a:solidFill>
                  <a:schemeClr val="tx1"/>
                </a:solidFill>
              </a:rPr>
              <a:t>Team-Review des KI-Codes</a:t>
            </a:r>
            <a:endParaRPr lang="en-US" sz="1600" dirty="0"/>
          </a:p>
        </p:txBody>
      </p:sp>
      <p:sp>
        <p:nvSpPr>
          <p:cNvPr id="19" name="text-33"/>
          <p:cNvSpPr txBox="1"/>
          <p:nvPr/>
        </p:nvSpPr>
        <p:spPr>
          <a:xfrm>
            <a:off x="5084064" y="3063240"/>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jetzt</a:t>
            </a:r>
            <a:endParaRPr lang="en-US" sz="1400" dirty="0"/>
          </a:p>
        </p:txBody>
      </p:sp>
      <p:sp>
        <p:nvSpPr>
          <p:cNvPr id="20" name="text-34"/>
          <p:cNvSpPr txBox="1"/>
          <p:nvPr/>
        </p:nvSpPr>
        <p:spPr>
          <a:xfrm>
            <a:off x="5084064" y="3383280"/>
            <a:ext cx="2103120" cy="548640"/>
          </a:xfrm>
          <a:prstGeom prst="rect">
            <a:avLst/>
          </a:prstGeom>
          <a:noFill/>
          <a:ln/>
        </p:spPr>
        <p:txBody>
          <a:bodyPr wrap="square" lIns="0" tIns="0" rIns="0" bIns="0" rtlCol="0" anchor="t"/>
          <a:lstStyle/>
          <a:p>
            <a:pPr indent="0" marL="0">
              <a:buNone/>
            </a:pPr>
            <a:r>
              <a:rPr lang="en-US" sz="1300" dirty="0">
                <a:solidFill>
                  <a:schemeClr val="accent4"/>
                </a:solidFill>
              </a:rPr>
              <a:t>Checkliste + Fehlerlog</a:t>
            </a:r>
            <a:endParaRPr lang="en-US" sz="1300" dirty="0"/>
          </a:p>
        </p:txBody>
      </p:sp>
      <p:sp>
        <p:nvSpPr>
          <p:cNvPr id="21" name="verbindung-35"/>
          <p:cNvSpPr/>
          <p:nvPr/>
        </p:nvSpPr>
        <p:spPr>
          <a:xfrm>
            <a:off x="8174736" y="1874520"/>
            <a:ext cx="1719072" cy="0"/>
          </a:xfrm>
          <a:prstGeom prst="line">
            <a:avLst/>
          </a:prstGeom>
          <a:noFill/>
          <a:ln w="25400">
            <a:solidFill>
              <a:srgbClr val="8C98A6"/>
            </a:solidFill>
            <a:prstDash val="solid"/>
          </a:ln>
        </p:spPr>
      </p:sp>
      <p:sp>
        <p:nvSpPr>
          <p:cNvPr id="22" name="kreis-36"/>
          <p:cNvSpPr/>
          <p:nvPr/>
        </p:nvSpPr>
        <p:spPr>
          <a:xfrm>
            <a:off x="7626096" y="1600200"/>
            <a:ext cx="548640" cy="548640"/>
          </a:xfrm>
          <a:prstGeom prst="ellipse">
            <a:avLst/>
          </a:prstGeom>
          <a:solidFill>
            <a:schemeClr val="accent5"/>
          </a:solidFill>
          <a:ln w="12700">
            <a:solidFill>
              <a:schemeClr val="accent5"/>
            </a:solidFill>
            <a:prstDash val="solid"/>
          </a:ln>
        </p:spPr>
      </p:sp>
      <p:sp>
        <p:nvSpPr>
          <p:cNvPr id="23" name="kreis-text-37"/>
          <p:cNvSpPr txBox="1"/>
          <p:nvPr/>
        </p:nvSpPr>
        <p:spPr>
          <a:xfrm>
            <a:off x="7626096"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38"/>
          <p:cNvSpPr txBox="1"/>
          <p:nvPr/>
        </p:nvSpPr>
        <p:spPr>
          <a:xfrm>
            <a:off x="7351776" y="2331720"/>
            <a:ext cx="2103120" cy="731520"/>
          </a:xfrm>
          <a:prstGeom prst="rect">
            <a:avLst/>
          </a:prstGeom>
          <a:noFill/>
          <a:ln/>
        </p:spPr>
        <p:txBody>
          <a:bodyPr wrap="square" lIns="0" tIns="0" rIns="0" bIns="0" rtlCol="0" anchor="t"/>
          <a:lstStyle/>
          <a:p>
            <a:pPr indent="0" marL="0">
              <a:buNone/>
            </a:pPr>
            <a:r>
              <a:rPr lang="en-US" sz="1600" b="1" dirty="0">
                <a:solidFill>
                  <a:schemeClr val="tx1"/>
                </a:solidFill>
              </a:rPr>
              <a:t>Out-of-Sample-Test</a:t>
            </a:r>
            <a:endParaRPr lang="en-US" sz="1600" dirty="0"/>
          </a:p>
        </p:txBody>
      </p:sp>
      <p:sp>
        <p:nvSpPr>
          <p:cNvPr id="25" name="text-39"/>
          <p:cNvSpPr txBox="1"/>
          <p:nvPr/>
        </p:nvSpPr>
        <p:spPr>
          <a:xfrm>
            <a:off x="7351776" y="3063240"/>
            <a:ext cx="2103120" cy="320040"/>
          </a:xfrm>
          <a:prstGeom prst="rect">
            <a:avLst/>
          </a:prstGeom>
          <a:noFill/>
          <a:ln/>
        </p:spPr>
        <p:txBody>
          <a:bodyPr wrap="square" lIns="0" tIns="0" rIns="0" bIns="0" rtlCol="0" anchor="t"/>
          <a:lstStyle/>
          <a:p>
            <a:pPr indent="0" marL="0">
              <a:buNone/>
            </a:pPr>
            <a:r>
              <a:rPr lang="en-US" sz="1400" b="1" dirty="0">
                <a:solidFill>
                  <a:schemeClr val="accent5"/>
                </a:solidFill>
              </a:rPr>
              <a:t>einmal, nach Freigabe</a:t>
            </a:r>
            <a:endParaRPr lang="en-US" sz="1400" dirty="0"/>
          </a:p>
        </p:txBody>
      </p:sp>
      <p:sp>
        <p:nvSpPr>
          <p:cNvPr id="26" name="text-40"/>
          <p:cNvSpPr txBox="1"/>
          <p:nvPr/>
        </p:nvSpPr>
        <p:spPr>
          <a:xfrm>
            <a:off x="7351776" y="3383280"/>
            <a:ext cx="2103120" cy="548640"/>
          </a:xfrm>
          <a:prstGeom prst="rect">
            <a:avLst/>
          </a:prstGeom>
          <a:noFill/>
          <a:ln/>
        </p:spPr>
        <p:txBody>
          <a:bodyPr wrap="square" lIns="0" tIns="0" rIns="0" bIns="0" rtlCol="0" anchor="t"/>
          <a:lstStyle/>
          <a:p>
            <a:pPr indent="0" marL="0">
              <a:buNone/>
            </a:pPr>
            <a:r>
              <a:rPr lang="en-US" sz="1300" dirty="0">
                <a:solidFill>
                  <a:schemeClr val="accent4"/>
                </a:solidFill>
              </a:rPr>
              <a:t>run_oos.py</a:t>
            </a:r>
            <a:endParaRPr lang="en-US" sz="1300" dirty="0"/>
          </a:p>
        </p:txBody>
      </p:sp>
      <p:sp>
        <p:nvSpPr>
          <p:cNvPr id="27" name="kreis-41"/>
          <p:cNvSpPr/>
          <p:nvPr/>
        </p:nvSpPr>
        <p:spPr>
          <a:xfrm>
            <a:off x="9893808" y="1600200"/>
            <a:ext cx="548640" cy="548640"/>
          </a:xfrm>
          <a:prstGeom prst="ellipse">
            <a:avLst/>
          </a:prstGeom>
          <a:solidFill>
            <a:schemeClr val="accent5"/>
          </a:solidFill>
          <a:ln w="12700">
            <a:solidFill>
              <a:schemeClr val="accent5"/>
            </a:solidFill>
            <a:prstDash val="solid"/>
          </a:ln>
        </p:spPr>
      </p:sp>
      <p:sp>
        <p:nvSpPr>
          <p:cNvPr id="28" name="kreis-text-42"/>
          <p:cNvSpPr txBox="1"/>
          <p:nvPr/>
        </p:nvSpPr>
        <p:spPr>
          <a:xfrm>
            <a:off x="9893808"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9" name="text-43"/>
          <p:cNvSpPr txBox="1"/>
          <p:nvPr/>
        </p:nvSpPr>
        <p:spPr>
          <a:xfrm>
            <a:off x="9619488" y="2331720"/>
            <a:ext cx="2103120" cy="731520"/>
          </a:xfrm>
          <a:prstGeom prst="rect">
            <a:avLst/>
          </a:prstGeom>
          <a:noFill/>
          <a:ln/>
        </p:spPr>
        <p:txBody>
          <a:bodyPr wrap="square" lIns="0" tIns="0" rIns="0" bIns="0" rtlCol="0" anchor="t"/>
          <a:lstStyle/>
          <a:p>
            <a:pPr indent="0" marL="0">
              <a:buNone/>
            </a:pPr>
            <a:r>
              <a:rPr lang="en-US" sz="1600" b="1" dirty="0">
                <a:solidFill>
                  <a:schemeClr val="tx1"/>
                </a:solidFill>
              </a:rPr>
              <a:t>Auswertung und Bericht</a:t>
            </a:r>
            <a:endParaRPr lang="en-US" sz="1600" dirty="0"/>
          </a:p>
        </p:txBody>
      </p:sp>
      <p:sp>
        <p:nvSpPr>
          <p:cNvPr id="30" name="text-44"/>
          <p:cNvSpPr txBox="1"/>
          <p:nvPr/>
        </p:nvSpPr>
        <p:spPr>
          <a:xfrm>
            <a:off x="9619488" y="3063240"/>
            <a:ext cx="2103120" cy="320040"/>
          </a:xfrm>
          <a:prstGeom prst="rect">
            <a:avLst/>
          </a:prstGeom>
          <a:noFill/>
          <a:ln/>
        </p:spPr>
        <p:txBody>
          <a:bodyPr wrap="square" lIns="0" tIns="0" rIns="0" bIns="0" rtlCol="0" anchor="t"/>
          <a:lstStyle/>
          <a:p>
            <a:pPr indent="0" marL="0">
              <a:buNone/>
            </a:pPr>
            <a:r>
              <a:rPr lang="en-US" sz="1400" b="1" dirty="0">
                <a:solidFill>
                  <a:schemeClr val="accent5"/>
                </a:solidFill>
              </a:rPr>
              <a:t>offen</a:t>
            </a:r>
            <a:endParaRPr lang="en-US" sz="1400" dirty="0"/>
          </a:p>
        </p:txBody>
      </p:sp>
      <p:sp>
        <p:nvSpPr>
          <p:cNvPr id="31" name="text-45"/>
          <p:cNvSpPr txBox="1"/>
          <p:nvPr/>
        </p:nvSpPr>
        <p:spPr>
          <a:xfrm>
            <a:off x="9619488" y="3383280"/>
            <a:ext cx="2103120" cy="548640"/>
          </a:xfrm>
          <a:prstGeom prst="rect">
            <a:avLst/>
          </a:prstGeom>
          <a:noFill/>
          <a:ln/>
        </p:spPr>
        <p:txBody>
          <a:bodyPr wrap="square" lIns="0" tIns="0" rIns="0" bIns="0" rtlCol="0" anchor="t"/>
          <a:lstStyle/>
          <a:p>
            <a:pPr indent="0" marL="0">
              <a:buNone/>
            </a:pPr>
            <a:r>
              <a:rPr lang="en-US" sz="1300" dirty="0">
                <a:solidFill>
                  <a:schemeClr val="accent4"/>
                </a:solidFill>
              </a:rPr>
              <a:t>Antwort auf die Fragestellung</a:t>
            </a:r>
            <a:endParaRPr lang="en-US" sz="1300" dirty="0"/>
          </a:p>
        </p:txBody>
      </p:sp>
      <p:sp>
        <p:nvSpPr>
          <p:cNvPr id="32" name="karte-46"/>
          <p:cNvSpPr/>
          <p:nvPr/>
        </p:nvSpPr>
        <p:spPr>
          <a:xfrm>
            <a:off x="548640" y="4206240"/>
            <a:ext cx="5394960" cy="1965960"/>
          </a:xfrm>
          <a:prstGeom prst="roundRect">
            <a:avLst>
              <a:gd name="adj" fmla="val 3721"/>
            </a:avLst>
          </a:prstGeom>
          <a:solidFill>
            <a:schemeClr val="bg2"/>
          </a:solidFill>
          <a:ln w="12700">
            <a:solidFill>
              <a:schemeClr val="bg2"/>
            </a:solidFill>
            <a:prstDash val="solid"/>
          </a:ln>
        </p:spPr>
      </p:sp>
      <p:sp>
        <p:nvSpPr>
          <p:cNvPr id="33" name="karte-text-47"/>
          <p:cNvSpPr txBox="1"/>
          <p:nvPr/>
        </p:nvSpPr>
        <p:spPr>
          <a:xfrm>
            <a:off x="731520" y="4343400"/>
            <a:ext cx="5029200" cy="16916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Erledigt</a:t>
            </a:r>
            <a:endParaRPr lang="en-US" sz="1700" dirty="0"/>
          </a:p>
          <a:p>
            <a:pPr marL="342900" indent="-342900">
              <a:spcAft>
                <a:spcPts val="400"/>
              </a:spcAft>
              <a:buSzPct val="100000"/>
              <a:buChar char="•"/>
            </a:pPr>
            <a:r>
              <a:rPr lang="en-US" sz="1400" dirty="0">
                <a:solidFill>
                  <a:schemeClr val="tx2"/>
                </a:solidFill>
              </a:rPr>
              <a:t>Daten 2016–2025 geladen, geprüft, bereinigt</a:t>
            </a:r>
            <a:endParaRPr lang="en-US" sz="1700" dirty="0"/>
          </a:p>
          <a:p>
            <a:pPr marL="342900" indent="-342900">
              <a:spcAft>
                <a:spcPts val="400"/>
              </a:spcAft>
              <a:buSzPct val="100000"/>
              <a:buChar char="•"/>
            </a:pPr>
            <a:r>
              <a:rPr lang="en-US" sz="1400" dirty="0">
                <a:solidFill>
                  <a:schemeClr val="tx2"/>
                </a:solidFill>
              </a:rPr>
              <a:t>4 Strategien, Ensemble, Buy &amp; Hold, Backtester</a:t>
            </a:r>
            <a:endParaRPr lang="en-US" sz="1700" dirty="0"/>
          </a:p>
          <a:p>
            <a:pPr marL="342900" indent="-342900">
              <a:spcAft>
                <a:spcPts val="400"/>
              </a:spcAft>
              <a:buSzPct val="100000"/>
              <a:buChar char="•"/>
            </a:pPr>
            <a:r>
              <a:rPr lang="en-US" sz="1400" dirty="0">
                <a:solidFill>
                  <a:schemeClr val="tx2"/>
                </a:solidFill>
              </a:rPr>
              <a:t>Optimierung + Auswertung nur auf 2018–2022</a:t>
            </a:r>
            <a:endParaRPr lang="en-US" sz="1700" dirty="0"/>
          </a:p>
          <a:p>
            <a:pPr marL="342900" indent="-342900">
              <a:spcAft>
                <a:spcPts val="400"/>
              </a:spcAft>
              <a:buSzPct val="100000"/>
              <a:buChar char="•"/>
            </a:pPr>
            <a:r>
              <a:rPr lang="en-US" sz="1400" dirty="0">
                <a:solidFill>
                  <a:schemeClr val="tx2"/>
                </a:solidFill>
              </a:rPr>
              <a:t>91 Tests grün, 95 % Testabdeckung</a:t>
            </a:r>
            <a:endParaRPr lang="en-US" sz="1700" dirty="0"/>
          </a:p>
        </p:txBody>
      </p:sp>
      <p:sp>
        <p:nvSpPr>
          <p:cNvPr id="34" name="karte-48"/>
          <p:cNvSpPr/>
          <p:nvPr/>
        </p:nvSpPr>
        <p:spPr>
          <a:xfrm>
            <a:off x="6217920" y="4206240"/>
            <a:ext cx="5394960" cy="1965960"/>
          </a:xfrm>
          <a:prstGeom prst="roundRect">
            <a:avLst>
              <a:gd name="adj" fmla="val 3721"/>
            </a:avLst>
          </a:prstGeom>
          <a:solidFill>
            <a:schemeClr val="accent6"/>
          </a:solidFill>
          <a:ln w="12700">
            <a:solidFill>
              <a:schemeClr val="accent6"/>
            </a:solidFill>
            <a:prstDash val="solid"/>
          </a:ln>
        </p:spPr>
      </p:sp>
      <p:sp>
        <p:nvSpPr>
          <p:cNvPr id="35" name="karte-text-49"/>
          <p:cNvSpPr txBox="1"/>
          <p:nvPr/>
        </p:nvSpPr>
        <p:spPr>
          <a:xfrm>
            <a:off x="6400800" y="4343400"/>
            <a:ext cx="5029200" cy="16916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Offen</a:t>
            </a:r>
            <a:endParaRPr lang="en-US" sz="1700" dirty="0"/>
          </a:p>
          <a:p>
            <a:pPr marL="342900" indent="-342900">
              <a:spcAft>
                <a:spcPts val="400"/>
              </a:spcAft>
              <a:buSzPct val="100000"/>
              <a:buChar char="•"/>
            </a:pPr>
            <a:r>
              <a:rPr lang="en-US" sz="1400" dirty="0">
                <a:solidFill>
                  <a:schemeClr val="tx2"/>
                </a:solidFill>
              </a:rPr>
              <a:t>Code-Review mit docs/review_checkliste.md</a:t>
            </a:r>
            <a:endParaRPr lang="en-US" sz="1700" dirty="0"/>
          </a:p>
          <a:p>
            <a:pPr marL="342900" indent="-342900">
              <a:spcAft>
                <a:spcPts val="400"/>
              </a:spcAft>
              <a:buSzPct val="100000"/>
              <a:buChar char="•"/>
            </a:pPr>
            <a:r>
              <a:rPr lang="en-US" sz="1400" dirty="0">
                <a:solidFill>
                  <a:schemeClr val="tx2"/>
                </a:solidFill>
              </a:rPr>
              <a:t>E20 (Gebühr am Ende) bestätigen und einbauen</a:t>
            </a:r>
            <a:endParaRPr lang="en-US" sz="1700" dirty="0"/>
          </a:p>
          <a:p>
            <a:pPr marL="342900" indent="-342900">
              <a:spcAft>
                <a:spcPts val="400"/>
              </a:spcAft>
              <a:buSzPct val="100000"/>
              <a:buChar char="•"/>
            </a:pPr>
            <a:r>
              <a:rPr lang="en-US" sz="1400" dirty="0">
                <a:solidFill>
                  <a:schemeClr val="tx2"/>
                </a:solidFill>
              </a:rPr>
              <a:t>Offene Fragen: DSR-Versuchszahl, Grid-Ränder</a:t>
            </a:r>
            <a:endParaRPr lang="en-US" sz="1700" dirty="0"/>
          </a:p>
          <a:p>
            <a:pPr marL="342900" indent="-342900">
              <a:spcAft>
                <a:spcPts val="400"/>
              </a:spcAft>
              <a:buSzPct val="100000"/>
              <a:buChar char="•"/>
            </a:pPr>
            <a:r>
              <a:rPr lang="en-US" sz="1400" dirty="0">
                <a:solidFill>
                  <a:schemeClr val="tx2"/>
                </a:solidFill>
              </a:rPr>
              <a:t>Danach einmalig OOS-Test 2023–2025</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560320"/>
            <a:ext cx="10698480" cy="1097280"/>
          </a:xfrm>
          <a:prstGeom prst="rect">
            <a:avLst/>
          </a:prstGeom>
          <a:noFill/>
          <a:ln/>
        </p:spPr>
        <p:txBody>
          <a:bodyPr wrap="square" lIns="0" tIns="0" rIns="0" bIns="0" rtlCol="0"/>
          <a:lstStyle/>
          <a:p>
            <a:pPr algn="l" indent="0" marL="0">
              <a:buNone/>
            </a:pPr>
            <a:r>
              <a:rPr lang="en-US" sz="4000" b="1" dirty="0">
                <a:solidFill>
                  <a:schemeClr val="bg1"/>
                </a:solidFill>
              </a:rPr>
              <a:t>So funktioniert der Bot</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lIns="0" tIns="0" rIns="0" bIns="0" rtlCol="0"/>
          <a:lstStyle/>
          <a:p>
            <a:pPr indent="0" marL="0">
              <a:buNone/>
            </a:pPr>
            <a:r>
              <a:rPr lang="en-US" sz="1800" dirty="0">
                <a:solidFill>
                  <a:schemeClr val="accent6"/>
                </a:solidFill>
              </a:rPr>
              <a:t>Daten → Strategie → Backtester → Kennzahlen → Vergleich</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Der Ablauf in fünf Stationen</a:t>
            </a:r>
            <a:endParaRPr lang="en-US" sz="3200" dirty="0"/>
          </a:p>
        </p:txBody>
      </p:sp>
      <p:sp>
        <p:nvSpPr>
          <p:cNvPr id="3" name="kreis-50"/>
          <p:cNvSpPr/>
          <p:nvPr/>
        </p:nvSpPr>
        <p:spPr>
          <a:xfrm>
            <a:off x="1234440" y="1417320"/>
            <a:ext cx="685800" cy="685800"/>
          </a:xfrm>
          <a:prstGeom prst="ellipse">
            <a:avLst/>
          </a:prstGeom>
          <a:solidFill>
            <a:schemeClr val="accent1"/>
          </a:solidFill>
          <a:ln w="12700">
            <a:solidFill>
              <a:schemeClr val="accent1"/>
            </a:solidFill>
            <a:prstDash val="solid"/>
          </a:ln>
        </p:spPr>
      </p:sp>
      <p:sp>
        <p:nvSpPr>
          <p:cNvPr id="4" name="kreis-text-51"/>
          <p:cNvSpPr txBox="1"/>
          <p:nvPr/>
        </p:nvSpPr>
        <p:spPr>
          <a:xfrm>
            <a:off x="1234440" y="141732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pfeil-52"/>
          <p:cNvSpPr/>
          <p:nvPr/>
        </p:nvSpPr>
        <p:spPr>
          <a:xfrm>
            <a:off x="2011680" y="1755648"/>
            <a:ext cx="1371600" cy="0"/>
          </a:xfrm>
          <a:prstGeom prst="line">
            <a:avLst/>
          </a:prstGeom>
          <a:noFill/>
          <a:ln w="31750">
            <a:solidFill>
              <a:srgbClr val="F7931A"/>
            </a:solidFill>
            <a:prstDash val="solid"/>
            <a:tailEnd type="triangle"/>
          </a:ln>
        </p:spPr>
      </p:sp>
      <p:sp>
        <p:nvSpPr>
          <p:cNvPr id="6" name="karte-53"/>
          <p:cNvSpPr/>
          <p:nvPr/>
        </p:nvSpPr>
        <p:spPr>
          <a:xfrm>
            <a:off x="548640" y="2331720"/>
            <a:ext cx="2057400" cy="2194560"/>
          </a:xfrm>
          <a:prstGeom prst="roundRect">
            <a:avLst>
              <a:gd name="adj" fmla="val 3556"/>
            </a:avLst>
          </a:prstGeom>
          <a:solidFill>
            <a:schemeClr val="bg2"/>
          </a:solidFill>
          <a:ln w="12700">
            <a:solidFill>
              <a:schemeClr val="bg2"/>
            </a:solidFill>
            <a:prstDash val="solid"/>
          </a:ln>
        </p:spPr>
      </p:sp>
      <p:sp>
        <p:nvSpPr>
          <p:cNvPr id="7" name="karte-text-54"/>
          <p:cNvSpPr txBox="1"/>
          <p:nvPr/>
        </p:nvSpPr>
        <p:spPr>
          <a:xfrm>
            <a:off x="731520" y="2468880"/>
            <a:ext cx="1691640" cy="19202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Daten</a:t>
            </a:r>
            <a:endParaRPr lang="en-US" sz="1800" dirty="0"/>
          </a:p>
          <a:p>
            <a:pPr indent="0" marL="0">
              <a:spcAft>
                <a:spcPts val="400"/>
              </a:spcAft>
              <a:buNone/>
            </a:pPr>
            <a:r>
              <a:rPr lang="en-US" sz="1400" dirty="0">
                <a:solidFill>
                  <a:schemeClr val="tx2"/>
                </a:solidFill>
              </a:rPr>
              <a:t>Tageskurse + Fear &amp; Greed laden, prüfen, bereinigen</a:t>
            </a:r>
            <a:endParaRPr lang="en-US" sz="1800" dirty="0"/>
          </a:p>
        </p:txBody>
      </p:sp>
      <p:sp>
        <p:nvSpPr>
          <p:cNvPr id="8" name="text-55"/>
          <p:cNvSpPr txBox="1"/>
          <p:nvPr/>
        </p:nvSpPr>
        <p:spPr>
          <a:xfrm>
            <a:off x="548640" y="4617720"/>
            <a:ext cx="2057400" cy="54864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src/bot/data/</a:t>
            </a:r>
            <a:endParaRPr lang="en-US" sz="1100" dirty="0"/>
          </a:p>
        </p:txBody>
      </p:sp>
      <p:sp>
        <p:nvSpPr>
          <p:cNvPr id="9" name="kreis-56"/>
          <p:cNvSpPr/>
          <p:nvPr/>
        </p:nvSpPr>
        <p:spPr>
          <a:xfrm>
            <a:off x="3502152" y="1417320"/>
            <a:ext cx="685800" cy="685800"/>
          </a:xfrm>
          <a:prstGeom prst="ellipse">
            <a:avLst/>
          </a:prstGeom>
          <a:solidFill>
            <a:schemeClr val="accent1"/>
          </a:solidFill>
          <a:ln w="12700">
            <a:solidFill>
              <a:schemeClr val="accent1"/>
            </a:solidFill>
            <a:prstDash val="solid"/>
          </a:ln>
        </p:spPr>
      </p:sp>
      <p:sp>
        <p:nvSpPr>
          <p:cNvPr id="10" name="kreis-text-57"/>
          <p:cNvSpPr txBox="1"/>
          <p:nvPr/>
        </p:nvSpPr>
        <p:spPr>
          <a:xfrm>
            <a:off x="3502152" y="141732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pfeil-58"/>
          <p:cNvSpPr/>
          <p:nvPr/>
        </p:nvSpPr>
        <p:spPr>
          <a:xfrm>
            <a:off x="4279392" y="1755648"/>
            <a:ext cx="1371600" cy="0"/>
          </a:xfrm>
          <a:prstGeom prst="line">
            <a:avLst/>
          </a:prstGeom>
          <a:noFill/>
          <a:ln w="31750">
            <a:solidFill>
              <a:srgbClr val="F7931A"/>
            </a:solidFill>
            <a:prstDash val="solid"/>
            <a:tailEnd type="triangle"/>
          </a:ln>
        </p:spPr>
      </p:sp>
      <p:sp>
        <p:nvSpPr>
          <p:cNvPr id="12" name="karte-59"/>
          <p:cNvSpPr/>
          <p:nvPr/>
        </p:nvSpPr>
        <p:spPr>
          <a:xfrm>
            <a:off x="2816352" y="2331720"/>
            <a:ext cx="2057400" cy="2194560"/>
          </a:xfrm>
          <a:prstGeom prst="roundRect">
            <a:avLst>
              <a:gd name="adj" fmla="val 3556"/>
            </a:avLst>
          </a:prstGeom>
          <a:solidFill>
            <a:schemeClr val="bg2"/>
          </a:solidFill>
          <a:ln w="12700">
            <a:solidFill>
              <a:schemeClr val="bg2"/>
            </a:solidFill>
            <a:prstDash val="solid"/>
          </a:ln>
        </p:spPr>
      </p:sp>
      <p:sp>
        <p:nvSpPr>
          <p:cNvPr id="13" name="karte-text-60"/>
          <p:cNvSpPr txBox="1"/>
          <p:nvPr/>
        </p:nvSpPr>
        <p:spPr>
          <a:xfrm>
            <a:off x="2999232" y="2468880"/>
            <a:ext cx="1691640" cy="19202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Strategie</a:t>
            </a:r>
            <a:endParaRPr lang="en-US" sz="1800" dirty="0"/>
          </a:p>
          <a:p>
            <a:pPr indent="0" marL="0">
              <a:spcAft>
                <a:spcPts val="400"/>
              </a:spcAft>
              <a:buNone/>
            </a:pPr>
            <a:r>
              <a:rPr lang="en-US" sz="1400" dirty="0">
                <a:solidFill>
                  <a:schemeClr val="tx2"/>
                </a:solidFill>
              </a:rPr>
              <a:t>entscheidet jeden Tag: investiert (1) oder Cash (0)</a:t>
            </a:r>
            <a:endParaRPr lang="en-US" sz="1800" dirty="0"/>
          </a:p>
        </p:txBody>
      </p:sp>
      <p:sp>
        <p:nvSpPr>
          <p:cNvPr id="14" name="text-61"/>
          <p:cNvSpPr txBox="1"/>
          <p:nvPr/>
        </p:nvSpPr>
        <p:spPr>
          <a:xfrm>
            <a:off x="2816352" y="4617720"/>
            <a:ext cx="2057400" cy="54864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src/bot/strategies/</a:t>
            </a:r>
            <a:endParaRPr lang="en-US" sz="1100" dirty="0"/>
          </a:p>
        </p:txBody>
      </p:sp>
      <p:sp>
        <p:nvSpPr>
          <p:cNvPr id="15" name="kreis-62"/>
          <p:cNvSpPr/>
          <p:nvPr/>
        </p:nvSpPr>
        <p:spPr>
          <a:xfrm>
            <a:off x="5769864" y="1417320"/>
            <a:ext cx="685800" cy="685800"/>
          </a:xfrm>
          <a:prstGeom prst="ellipse">
            <a:avLst/>
          </a:prstGeom>
          <a:solidFill>
            <a:schemeClr val="accent1"/>
          </a:solidFill>
          <a:ln w="12700">
            <a:solidFill>
              <a:schemeClr val="accent1"/>
            </a:solidFill>
            <a:prstDash val="solid"/>
          </a:ln>
        </p:spPr>
      </p:sp>
      <p:sp>
        <p:nvSpPr>
          <p:cNvPr id="16" name="kreis-text-63"/>
          <p:cNvSpPr txBox="1"/>
          <p:nvPr/>
        </p:nvSpPr>
        <p:spPr>
          <a:xfrm>
            <a:off x="5769864" y="141732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pfeil-64"/>
          <p:cNvSpPr/>
          <p:nvPr/>
        </p:nvSpPr>
        <p:spPr>
          <a:xfrm>
            <a:off x="6547104" y="1755648"/>
            <a:ext cx="1371600" cy="0"/>
          </a:xfrm>
          <a:prstGeom prst="line">
            <a:avLst/>
          </a:prstGeom>
          <a:noFill/>
          <a:ln w="31750">
            <a:solidFill>
              <a:srgbClr val="F7931A"/>
            </a:solidFill>
            <a:prstDash val="solid"/>
            <a:tailEnd type="triangle"/>
          </a:ln>
        </p:spPr>
      </p:sp>
      <p:sp>
        <p:nvSpPr>
          <p:cNvPr id="18" name="karte-65"/>
          <p:cNvSpPr/>
          <p:nvPr/>
        </p:nvSpPr>
        <p:spPr>
          <a:xfrm>
            <a:off x="5084064" y="2331720"/>
            <a:ext cx="2057400" cy="2194560"/>
          </a:xfrm>
          <a:prstGeom prst="roundRect">
            <a:avLst>
              <a:gd name="adj" fmla="val 3556"/>
            </a:avLst>
          </a:prstGeom>
          <a:solidFill>
            <a:schemeClr val="bg2"/>
          </a:solidFill>
          <a:ln w="12700">
            <a:solidFill>
              <a:schemeClr val="bg2"/>
            </a:solidFill>
            <a:prstDash val="solid"/>
          </a:ln>
        </p:spPr>
      </p:sp>
      <p:sp>
        <p:nvSpPr>
          <p:cNvPr id="19" name="karte-text-66"/>
          <p:cNvSpPr txBox="1"/>
          <p:nvPr/>
        </p:nvSpPr>
        <p:spPr>
          <a:xfrm>
            <a:off x="5266944" y="2468880"/>
            <a:ext cx="1691640" cy="19202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Backtester</a:t>
            </a:r>
            <a:endParaRPr lang="en-US" sz="1800" dirty="0"/>
          </a:p>
          <a:p>
            <a:pPr indent="0" marL="0">
              <a:spcAft>
                <a:spcPts val="400"/>
              </a:spcAft>
              <a:buNone/>
            </a:pPr>
            <a:r>
              <a:rPr lang="en-US" sz="1400" dirty="0">
                <a:solidFill>
                  <a:schemeClr val="tx2"/>
                </a:solidFill>
              </a:rPr>
              <a:t>rechnet daraus Rendite, Gebühren, Kapitalkurve</a:t>
            </a:r>
            <a:endParaRPr lang="en-US" sz="1800" dirty="0"/>
          </a:p>
        </p:txBody>
      </p:sp>
      <p:sp>
        <p:nvSpPr>
          <p:cNvPr id="20" name="text-67"/>
          <p:cNvSpPr txBox="1"/>
          <p:nvPr/>
        </p:nvSpPr>
        <p:spPr>
          <a:xfrm>
            <a:off x="5084064" y="4617720"/>
            <a:ext cx="2057400" cy="54864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src/bot/backtest/engine.py</a:t>
            </a:r>
            <a:endParaRPr lang="en-US" sz="1100" dirty="0"/>
          </a:p>
        </p:txBody>
      </p:sp>
      <p:sp>
        <p:nvSpPr>
          <p:cNvPr id="21" name="kreis-68"/>
          <p:cNvSpPr/>
          <p:nvPr/>
        </p:nvSpPr>
        <p:spPr>
          <a:xfrm>
            <a:off x="8037576" y="1417320"/>
            <a:ext cx="685800" cy="685800"/>
          </a:xfrm>
          <a:prstGeom prst="ellipse">
            <a:avLst/>
          </a:prstGeom>
          <a:solidFill>
            <a:schemeClr val="accent1"/>
          </a:solidFill>
          <a:ln w="12700">
            <a:solidFill>
              <a:schemeClr val="accent1"/>
            </a:solidFill>
            <a:prstDash val="solid"/>
          </a:ln>
        </p:spPr>
      </p:sp>
      <p:sp>
        <p:nvSpPr>
          <p:cNvPr id="22" name="kreis-text-69"/>
          <p:cNvSpPr txBox="1"/>
          <p:nvPr/>
        </p:nvSpPr>
        <p:spPr>
          <a:xfrm>
            <a:off x="8037576" y="141732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pfeil-70"/>
          <p:cNvSpPr/>
          <p:nvPr/>
        </p:nvSpPr>
        <p:spPr>
          <a:xfrm>
            <a:off x="8814816" y="1755648"/>
            <a:ext cx="1371600" cy="0"/>
          </a:xfrm>
          <a:prstGeom prst="line">
            <a:avLst/>
          </a:prstGeom>
          <a:noFill/>
          <a:ln w="31750">
            <a:solidFill>
              <a:srgbClr val="F7931A"/>
            </a:solidFill>
            <a:prstDash val="solid"/>
            <a:tailEnd type="triangle"/>
          </a:ln>
        </p:spPr>
      </p:sp>
      <p:sp>
        <p:nvSpPr>
          <p:cNvPr id="24" name="karte-71"/>
          <p:cNvSpPr/>
          <p:nvPr/>
        </p:nvSpPr>
        <p:spPr>
          <a:xfrm>
            <a:off x="7351776" y="2331720"/>
            <a:ext cx="2057400" cy="2194560"/>
          </a:xfrm>
          <a:prstGeom prst="roundRect">
            <a:avLst>
              <a:gd name="adj" fmla="val 3556"/>
            </a:avLst>
          </a:prstGeom>
          <a:solidFill>
            <a:schemeClr val="bg2"/>
          </a:solidFill>
          <a:ln w="12700">
            <a:solidFill>
              <a:schemeClr val="bg2"/>
            </a:solidFill>
            <a:prstDash val="solid"/>
          </a:ln>
        </p:spPr>
      </p:sp>
      <p:sp>
        <p:nvSpPr>
          <p:cNvPr id="25" name="karte-text-72"/>
          <p:cNvSpPr txBox="1"/>
          <p:nvPr/>
        </p:nvSpPr>
        <p:spPr>
          <a:xfrm>
            <a:off x="7534656" y="2468880"/>
            <a:ext cx="1691640" cy="19202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Kennzahlen</a:t>
            </a:r>
            <a:endParaRPr lang="en-US" sz="1800" dirty="0"/>
          </a:p>
          <a:p>
            <a:pPr indent="0" marL="0">
              <a:spcAft>
                <a:spcPts val="400"/>
              </a:spcAft>
              <a:buNone/>
            </a:pPr>
            <a:r>
              <a:rPr lang="en-US" sz="1400" dirty="0">
                <a:solidFill>
                  <a:schemeClr val="tx2"/>
                </a:solidFill>
              </a:rPr>
              <a:t>Sharpe, Sortino, Max Drawdown, CAGR …</a:t>
            </a:r>
            <a:endParaRPr lang="en-US" sz="1800" dirty="0"/>
          </a:p>
        </p:txBody>
      </p:sp>
      <p:sp>
        <p:nvSpPr>
          <p:cNvPr id="26" name="text-73"/>
          <p:cNvSpPr txBox="1"/>
          <p:nvPr/>
        </p:nvSpPr>
        <p:spPr>
          <a:xfrm>
            <a:off x="7351776" y="4617720"/>
            <a:ext cx="2057400" cy="54864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src/bot/analysis/metrics.py</a:t>
            </a:r>
            <a:endParaRPr lang="en-US" sz="1100" dirty="0"/>
          </a:p>
        </p:txBody>
      </p:sp>
      <p:sp>
        <p:nvSpPr>
          <p:cNvPr id="27" name="kreis-74"/>
          <p:cNvSpPr/>
          <p:nvPr/>
        </p:nvSpPr>
        <p:spPr>
          <a:xfrm>
            <a:off x="10305288" y="1417320"/>
            <a:ext cx="685800" cy="685800"/>
          </a:xfrm>
          <a:prstGeom prst="ellipse">
            <a:avLst/>
          </a:prstGeom>
          <a:solidFill>
            <a:schemeClr val="accent1"/>
          </a:solidFill>
          <a:ln w="12700">
            <a:solidFill>
              <a:schemeClr val="accent1"/>
            </a:solidFill>
            <a:prstDash val="solid"/>
          </a:ln>
        </p:spPr>
      </p:sp>
      <p:sp>
        <p:nvSpPr>
          <p:cNvPr id="28" name="kreis-text-75"/>
          <p:cNvSpPr txBox="1"/>
          <p:nvPr/>
        </p:nvSpPr>
        <p:spPr>
          <a:xfrm>
            <a:off x="10305288" y="141732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9" name="karte-76"/>
          <p:cNvSpPr/>
          <p:nvPr/>
        </p:nvSpPr>
        <p:spPr>
          <a:xfrm>
            <a:off x="9619488" y="2331720"/>
            <a:ext cx="2057400" cy="2194560"/>
          </a:xfrm>
          <a:prstGeom prst="roundRect">
            <a:avLst>
              <a:gd name="adj" fmla="val 3556"/>
            </a:avLst>
          </a:prstGeom>
          <a:solidFill>
            <a:schemeClr val="bg2"/>
          </a:solidFill>
          <a:ln w="12700">
            <a:solidFill>
              <a:schemeClr val="bg2"/>
            </a:solidFill>
            <a:prstDash val="solid"/>
          </a:ln>
        </p:spPr>
      </p:sp>
      <p:sp>
        <p:nvSpPr>
          <p:cNvPr id="30" name="karte-text-77"/>
          <p:cNvSpPr txBox="1"/>
          <p:nvPr/>
        </p:nvSpPr>
        <p:spPr>
          <a:xfrm>
            <a:off x="9802368" y="2468880"/>
            <a:ext cx="1691640" cy="19202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Vergleich</a:t>
            </a:r>
            <a:endParaRPr lang="en-US" sz="1800" dirty="0"/>
          </a:p>
          <a:p>
            <a:pPr indent="0" marL="0">
              <a:spcAft>
                <a:spcPts val="400"/>
              </a:spcAft>
              <a:buNone/>
            </a:pPr>
            <a:r>
              <a:rPr lang="en-US" sz="1400" dirty="0">
                <a:solidFill>
                  <a:schemeClr val="tx2"/>
                </a:solidFill>
              </a:rPr>
              <a:t>alle Varianten gegen Buy &amp; Hold, pro Marktphase</a:t>
            </a:r>
            <a:endParaRPr lang="en-US" sz="1800" dirty="0"/>
          </a:p>
        </p:txBody>
      </p:sp>
      <p:sp>
        <p:nvSpPr>
          <p:cNvPr id="31" name="text-78"/>
          <p:cNvSpPr txBox="1"/>
          <p:nvPr/>
        </p:nvSpPr>
        <p:spPr>
          <a:xfrm>
            <a:off x="9619488" y="4617720"/>
            <a:ext cx="2057400" cy="548640"/>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src/bot/analysis/</a:t>
            </a:r>
            <a:endParaRPr lang="en-US" sz="1100" dirty="0"/>
          </a:p>
        </p:txBody>
      </p:sp>
      <p:sp>
        <p:nvSpPr>
          <p:cNvPr id="32" name="karte-79"/>
          <p:cNvSpPr/>
          <p:nvPr/>
        </p:nvSpPr>
        <p:spPr>
          <a:xfrm>
            <a:off x="548640" y="5257800"/>
            <a:ext cx="11064240" cy="960120"/>
          </a:xfrm>
          <a:prstGeom prst="roundRect">
            <a:avLst>
              <a:gd name="adj" fmla="val 7619"/>
            </a:avLst>
          </a:prstGeom>
          <a:solidFill>
            <a:schemeClr val="accent6"/>
          </a:solidFill>
          <a:ln w="12700">
            <a:solidFill>
              <a:schemeClr val="accent6"/>
            </a:solidFill>
            <a:prstDash val="solid"/>
          </a:ln>
        </p:spPr>
      </p:sp>
      <p:sp>
        <p:nvSpPr>
          <p:cNvPr id="33" name="karte-text-80"/>
          <p:cNvSpPr txBox="1"/>
          <p:nvPr/>
        </p:nvSpPr>
        <p:spPr>
          <a:xfrm>
            <a:off x="731520" y="5394960"/>
            <a:ext cx="10698480" cy="6858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Alle festen Werte stehen in zwei Konfigurationsdateien: config/settings.yaml (Zeiträume, Gebühr 0.1 %, 365 Tage) und config/strategies.yaml (Parameter und Grids der Strategien). Im Code ist nichts hart codiert.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Datenbasis: drei Quellen</a:t>
            </a:r>
            <a:endParaRPr lang="en-US" sz="3200" dirty="0"/>
          </a:p>
        </p:txBody>
      </p:sp>
      <p:sp>
        <p:nvSpPr>
          <p:cNvPr id="3" name="text-81"/>
          <p:cNvSpPr txBox="1"/>
          <p:nvPr/>
        </p:nvSpPr>
        <p:spPr>
          <a:xfrm>
            <a:off x="548640" y="132588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3 059</a:t>
            </a:r>
            <a:endParaRPr lang="en-US" sz="5400" dirty="0"/>
          </a:p>
        </p:txBody>
      </p:sp>
      <p:sp>
        <p:nvSpPr>
          <p:cNvPr id="4" name="text-82"/>
          <p:cNvSpPr txBox="1"/>
          <p:nvPr/>
        </p:nvSpPr>
        <p:spPr>
          <a:xfrm>
            <a:off x="548640" y="2240280"/>
            <a:ext cx="3566160" cy="411480"/>
          </a:xfrm>
          <a:prstGeom prst="rect">
            <a:avLst/>
          </a:prstGeom>
          <a:noFill/>
          <a:ln/>
        </p:spPr>
        <p:txBody>
          <a:bodyPr wrap="square" lIns="0" tIns="0" rIns="0" bIns="0" rtlCol="0" anchor="t"/>
          <a:lstStyle/>
          <a:p>
            <a:pPr indent="0" marL="0">
              <a:buNone/>
            </a:pPr>
            <a:r>
              <a:rPr lang="en-US" sz="1700" b="1" dirty="0">
                <a:solidFill>
                  <a:schemeClr val="tx1"/>
                </a:solidFill>
              </a:rPr>
              <a:t>Tage Binance BTC/USDT</a:t>
            </a:r>
            <a:endParaRPr lang="en-US" sz="1700" dirty="0"/>
          </a:p>
        </p:txBody>
      </p:sp>
      <p:sp>
        <p:nvSpPr>
          <p:cNvPr id="5" name="text-83"/>
          <p:cNvSpPr txBox="1"/>
          <p:nvPr/>
        </p:nvSpPr>
        <p:spPr>
          <a:xfrm>
            <a:off x="548640" y="2651760"/>
            <a:ext cx="3566160" cy="731520"/>
          </a:xfrm>
          <a:prstGeom prst="rect">
            <a:avLst/>
          </a:prstGeom>
          <a:noFill/>
          <a:ln/>
        </p:spPr>
        <p:txBody>
          <a:bodyPr wrap="square" lIns="0" tIns="0" rIns="0" bIns="0" rtlCol="0" anchor="t"/>
          <a:lstStyle/>
          <a:p>
            <a:pPr indent="0" marL="0">
              <a:buNone/>
            </a:pPr>
            <a:r>
              <a:rPr lang="en-US" sz="1300" dirty="0">
                <a:solidFill>
                  <a:schemeClr val="accent4"/>
                </a:solidFill>
              </a:rPr>
              <a:t>17.08.2017 – 31.12.2025 · Hauptdaten · 0 fehlende Tage</a:t>
            </a:r>
            <a:endParaRPr lang="en-US" sz="1300" dirty="0"/>
          </a:p>
        </p:txBody>
      </p:sp>
      <p:sp>
        <p:nvSpPr>
          <p:cNvPr id="6" name="text-84"/>
          <p:cNvSpPr txBox="1"/>
          <p:nvPr/>
        </p:nvSpPr>
        <p:spPr>
          <a:xfrm>
            <a:off x="4297680" y="132588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594</a:t>
            </a:r>
            <a:endParaRPr lang="en-US" sz="5400" dirty="0"/>
          </a:p>
        </p:txBody>
      </p:sp>
      <p:sp>
        <p:nvSpPr>
          <p:cNvPr id="7" name="text-85"/>
          <p:cNvSpPr txBox="1"/>
          <p:nvPr/>
        </p:nvSpPr>
        <p:spPr>
          <a:xfrm>
            <a:off x="4297680" y="2240280"/>
            <a:ext cx="3566160" cy="411480"/>
          </a:xfrm>
          <a:prstGeom prst="rect">
            <a:avLst/>
          </a:prstGeom>
          <a:noFill/>
          <a:ln/>
        </p:spPr>
        <p:txBody>
          <a:bodyPr wrap="square" lIns="0" tIns="0" rIns="0" bIns="0" rtlCol="0" anchor="t"/>
          <a:lstStyle/>
          <a:p>
            <a:pPr indent="0" marL="0">
              <a:buNone/>
            </a:pPr>
            <a:r>
              <a:rPr lang="en-US" sz="1700" b="1" dirty="0">
                <a:solidFill>
                  <a:schemeClr val="tx1"/>
                </a:solidFill>
              </a:rPr>
              <a:t>Tage Bitstamp BTC/USD</a:t>
            </a:r>
            <a:endParaRPr lang="en-US" sz="1700" dirty="0"/>
          </a:p>
        </p:txBody>
      </p:sp>
      <p:sp>
        <p:nvSpPr>
          <p:cNvPr id="8" name="text-86"/>
          <p:cNvSpPr txBox="1"/>
          <p:nvPr/>
        </p:nvSpPr>
        <p:spPr>
          <a:xfrm>
            <a:off x="4297680" y="2651760"/>
            <a:ext cx="3566160" cy="731520"/>
          </a:xfrm>
          <a:prstGeom prst="rect">
            <a:avLst/>
          </a:prstGeom>
          <a:noFill/>
          <a:ln/>
        </p:spPr>
        <p:txBody>
          <a:bodyPr wrap="square" lIns="0" tIns="0" rIns="0" bIns="0" rtlCol="0" anchor="t"/>
          <a:lstStyle/>
          <a:p>
            <a:pPr indent="0" marL="0">
              <a:buNone/>
            </a:pPr>
            <a:r>
              <a:rPr lang="en-US" sz="1300" dirty="0">
                <a:solidFill>
                  <a:schemeClr val="accent4"/>
                </a:solidFill>
              </a:rPr>
              <a:t>2016 – 16.08.2017 · nur «Aufwärmdaten» für Indikatoren</a:t>
            </a:r>
            <a:endParaRPr lang="en-US" sz="1300" dirty="0"/>
          </a:p>
        </p:txBody>
      </p:sp>
      <p:sp>
        <p:nvSpPr>
          <p:cNvPr id="9" name="text-87"/>
          <p:cNvSpPr txBox="1"/>
          <p:nvPr/>
        </p:nvSpPr>
        <p:spPr>
          <a:xfrm>
            <a:off x="8046720" y="132588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0.8 %</a:t>
            </a:r>
            <a:endParaRPr lang="en-US" sz="5400" dirty="0"/>
          </a:p>
        </p:txBody>
      </p:sp>
      <p:sp>
        <p:nvSpPr>
          <p:cNvPr id="10" name="text-88"/>
          <p:cNvSpPr txBox="1"/>
          <p:nvPr/>
        </p:nvSpPr>
        <p:spPr>
          <a:xfrm>
            <a:off x="8046720" y="2240280"/>
            <a:ext cx="3566160" cy="411480"/>
          </a:xfrm>
          <a:prstGeom prst="rect">
            <a:avLst/>
          </a:prstGeom>
          <a:noFill/>
          <a:ln/>
        </p:spPr>
        <p:txBody>
          <a:bodyPr wrap="square" lIns="0" tIns="0" rIns="0" bIns="0" rtlCol="0" anchor="t"/>
          <a:lstStyle/>
          <a:p>
            <a:pPr indent="0" marL="0">
              <a:buNone/>
            </a:pPr>
            <a:r>
              <a:rPr lang="en-US" sz="1700" b="1" dirty="0">
                <a:solidFill>
                  <a:schemeClr val="tx1"/>
                </a:solidFill>
              </a:rPr>
              <a:t>mittlere Abweichung</a:t>
            </a:r>
            <a:endParaRPr lang="en-US" sz="1700" dirty="0"/>
          </a:p>
        </p:txBody>
      </p:sp>
      <p:sp>
        <p:nvSpPr>
          <p:cNvPr id="11" name="text-89"/>
          <p:cNvSpPr txBox="1"/>
          <p:nvPr/>
        </p:nvSpPr>
        <p:spPr>
          <a:xfrm>
            <a:off x="8046720" y="2651760"/>
            <a:ext cx="3566160" cy="731520"/>
          </a:xfrm>
          <a:prstGeom prst="rect">
            <a:avLst/>
          </a:prstGeom>
          <a:noFill/>
          <a:ln/>
        </p:spPr>
        <p:txBody>
          <a:bodyPr wrap="square" lIns="0" tIns="0" rIns="0" bIns="0" rtlCol="0" anchor="t"/>
          <a:lstStyle/>
          <a:p>
            <a:pPr indent="0" marL="0">
              <a:buNone/>
            </a:pPr>
            <a:r>
              <a:rPr lang="en-US" sz="1300" dirty="0">
                <a:solidFill>
                  <a:schemeClr val="accent4"/>
                </a:solidFill>
              </a:rPr>
              <a:t>Bitstamp vs. Binance in der Überlappung (max. 9.9 % am 23.12.2017)</a:t>
            </a:r>
            <a:endParaRPr lang="en-US" sz="1300" dirty="0"/>
          </a:p>
        </p:txBody>
      </p:sp>
      <p:sp>
        <p:nvSpPr>
          <p:cNvPr id="12" name="karte-90"/>
          <p:cNvSpPr/>
          <p:nvPr/>
        </p:nvSpPr>
        <p:spPr>
          <a:xfrm>
            <a:off x="548640" y="3657600"/>
            <a:ext cx="5394960" cy="2560320"/>
          </a:xfrm>
          <a:prstGeom prst="roundRect">
            <a:avLst>
              <a:gd name="adj" fmla="val 2857"/>
            </a:avLst>
          </a:prstGeom>
          <a:solidFill>
            <a:schemeClr val="bg2"/>
          </a:solidFill>
          <a:ln w="12700">
            <a:solidFill>
              <a:schemeClr val="bg2"/>
            </a:solidFill>
            <a:prstDash val="solid"/>
          </a:ln>
        </p:spPr>
      </p:sp>
      <p:sp>
        <p:nvSpPr>
          <p:cNvPr id="13" name="karte-text-91"/>
          <p:cNvSpPr txBox="1"/>
          <p:nvPr/>
        </p:nvSpPr>
        <p:spPr>
          <a:xfrm>
            <a:off x="731520" y="3794760"/>
            <a:ext cx="5029200" cy="22860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Warum Aufwärmdaten?</a:t>
            </a:r>
            <a:endParaRPr lang="en-US" sz="1700" dirty="0"/>
          </a:p>
          <a:p>
            <a:pPr indent="0" marL="0">
              <a:spcAft>
                <a:spcPts val="400"/>
              </a:spcAft>
              <a:buNone/>
            </a:pPr>
            <a:r>
              <a:rPr lang="en-US" sz="1400" dirty="0">
                <a:solidFill>
                  <a:schemeClr val="tx2"/>
                </a:solidFill>
              </a:rPr>
              <a:t>Ein 200-Tage-Durchschnitt braucht 200 Tage Vorgeschichte. Damit er am 1.1.2018 (Start der Auswertung) schon gültig ist, hängen wir ältere Bitstamp-Kurse davor. Sie fliessen nie in die Rendite ein, nur in die Berechnung von Indikatoren.</a:t>
            </a:r>
            <a:endParaRPr lang="en-US" sz="1700" dirty="0"/>
          </a:p>
        </p:txBody>
      </p:sp>
      <p:sp>
        <p:nvSpPr>
          <p:cNvPr id="14" name="karte-92"/>
          <p:cNvSpPr/>
          <p:nvPr/>
        </p:nvSpPr>
        <p:spPr>
          <a:xfrm>
            <a:off x="6217920" y="3657600"/>
            <a:ext cx="5394960" cy="2560320"/>
          </a:xfrm>
          <a:prstGeom prst="roundRect">
            <a:avLst>
              <a:gd name="adj" fmla="val 2857"/>
            </a:avLst>
          </a:prstGeom>
          <a:solidFill>
            <a:schemeClr val="bg2"/>
          </a:solidFill>
          <a:ln w="12700">
            <a:solidFill>
              <a:schemeClr val="bg2"/>
            </a:solidFill>
            <a:prstDash val="solid"/>
          </a:ln>
        </p:spPr>
      </p:sp>
      <p:sp>
        <p:nvSpPr>
          <p:cNvPr id="15" name="karte-text-93"/>
          <p:cNvSpPr txBox="1"/>
          <p:nvPr/>
        </p:nvSpPr>
        <p:spPr>
          <a:xfrm>
            <a:off x="6400800" y="3794760"/>
            <a:ext cx="5029200" cy="22860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Fear &amp; Greed Index</a:t>
            </a:r>
            <a:endParaRPr lang="en-US" sz="1700" dirty="0"/>
          </a:p>
          <a:p>
            <a:pPr indent="0" marL="0">
              <a:spcAft>
                <a:spcPts val="400"/>
              </a:spcAft>
              <a:buNone/>
            </a:pPr>
            <a:r>
              <a:rPr lang="en-US" sz="1400" dirty="0">
                <a:solidFill>
                  <a:schemeClr val="tx2"/>
                </a:solidFill>
              </a:rPr>
              <a:t>Stimmungsindex 0 (Angst) bis 100 (Gier), ab 1.2.2018. Vorsichtsregel: Der Wert vom Tag T wird erst am Tag T+1 verwendet, weil unklar ist, wann genau er veröffentlicht wird. 4 fehlende Tage wurden mit dem Vortageswert gefüllt.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Drei Zeiträume: Aufwärmen, Entwickeln, Testen</a:t>
            </a:r>
            <a:endParaRPr lang="en-US" sz="3200" dirty="0"/>
          </a:p>
        </p:txBody>
      </p:sp>
      <p:sp>
        <p:nvSpPr>
          <p:cNvPr id="3" name="zeitbalken-94"/>
          <p:cNvSpPr/>
          <p:nvPr/>
        </p:nvSpPr>
        <p:spPr>
          <a:xfrm>
            <a:off x="548640" y="1463040"/>
            <a:ext cx="2167128" cy="914400"/>
          </a:xfrm>
          <a:prstGeom prst="rect">
            <a:avLst/>
          </a:prstGeom>
          <a:solidFill>
            <a:schemeClr val="accent5"/>
          </a:solidFill>
          <a:ln w="12700">
            <a:solidFill>
              <a:schemeClr val="accent5"/>
            </a:solidFill>
            <a:prstDash val="solid"/>
          </a:ln>
        </p:spPr>
      </p:sp>
      <p:sp>
        <p:nvSpPr>
          <p:cNvPr id="4" name="text-95"/>
          <p:cNvSpPr txBox="1"/>
          <p:nvPr/>
        </p:nvSpPr>
        <p:spPr>
          <a:xfrm>
            <a:off x="685800" y="1554480"/>
            <a:ext cx="1938528" cy="731520"/>
          </a:xfrm>
          <a:prstGeom prst="rect">
            <a:avLst/>
          </a:prstGeom>
          <a:noFill/>
          <a:ln/>
        </p:spPr>
        <p:txBody>
          <a:bodyPr wrap="square" lIns="0" tIns="0" rIns="0" bIns="0" rtlCol="0" anchor="ctr"/>
          <a:lstStyle/>
          <a:p>
            <a:pPr indent="0" marL="0">
              <a:buNone/>
            </a:pPr>
            <a:r>
              <a:rPr lang="en-US" sz="1400" b="1" dirty="0">
                <a:solidFill>
                  <a:schemeClr val="bg1"/>
                </a:solidFill>
              </a:rPr>
              <a:t>Aufwärmen</a:t>
            </a:r>
            <a:endParaRPr lang="en-US" sz="1400" dirty="0"/>
          </a:p>
          <a:p>
            <a:pPr indent="0" marL="0">
              <a:buNone/>
            </a:pPr>
            <a:r>
              <a:rPr lang="en-US" sz="1400" dirty="0">
                <a:solidFill>
                  <a:schemeClr val="bg1"/>
                </a:solidFill>
              </a:rPr>
              <a:t>2016 – 2017</a:t>
            </a:r>
            <a:endParaRPr lang="en-US" sz="1400" dirty="0"/>
          </a:p>
        </p:txBody>
      </p:sp>
      <p:sp>
        <p:nvSpPr>
          <p:cNvPr id="5" name="zeitbalken-96"/>
          <p:cNvSpPr/>
          <p:nvPr/>
        </p:nvSpPr>
        <p:spPr>
          <a:xfrm>
            <a:off x="2761488" y="1463040"/>
            <a:ext cx="5486400" cy="914400"/>
          </a:xfrm>
          <a:prstGeom prst="rect">
            <a:avLst/>
          </a:prstGeom>
          <a:solidFill>
            <a:schemeClr val="accent2"/>
          </a:solidFill>
          <a:ln w="12700">
            <a:solidFill>
              <a:schemeClr val="accent2"/>
            </a:solidFill>
            <a:prstDash val="solid"/>
          </a:ln>
        </p:spPr>
      </p:sp>
      <p:sp>
        <p:nvSpPr>
          <p:cNvPr id="6" name="text-97"/>
          <p:cNvSpPr txBox="1"/>
          <p:nvPr/>
        </p:nvSpPr>
        <p:spPr>
          <a:xfrm>
            <a:off x="2898648" y="1554480"/>
            <a:ext cx="5257800" cy="731520"/>
          </a:xfrm>
          <a:prstGeom prst="rect">
            <a:avLst/>
          </a:prstGeom>
          <a:noFill/>
          <a:ln/>
        </p:spPr>
        <p:txBody>
          <a:bodyPr wrap="square" lIns="0" tIns="0" rIns="0" bIns="0" rtlCol="0" anchor="ctr"/>
          <a:lstStyle/>
          <a:p>
            <a:pPr indent="0" marL="0">
              <a:buNone/>
            </a:pPr>
            <a:r>
              <a:rPr lang="en-US" sz="1400" b="1" dirty="0">
                <a:solidFill>
                  <a:schemeClr val="bg1"/>
                </a:solidFill>
              </a:rPr>
              <a:t>In-Sample: entwickeln &amp; optimieren</a:t>
            </a:r>
            <a:endParaRPr lang="en-US" sz="1400" dirty="0"/>
          </a:p>
          <a:p>
            <a:pPr indent="0" marL="0">
              <a:buNone/>
            </a:pPr>
            <a:r>
              <a:rPr lang="en-US" sz="1400" dirty="0">
                <a:solidFill>
                  <a:schemeClr val="bg1"/>
                </a:solidFill>
              </a:rPr>
              <a:t>2018 – 2022</a:t>
            </a:r>
            <a:endParaRPr lang="en-US" sz="1400" dirty="0"/>
          </a:p>
        </p:txBody>
      </p:sp>
      <p:sp>
        <p:nvSpPr>
          <p:cNvPr id="7" name="zeitbalken-98"/>
          <p:cNvSpPr/>
          <p:nvPr/>
        </p:nvSpPr>
        <p:spPr>
          <a:xfrm>
            <a:off x="8293608" y="1463040"/>
            <a:ext cx="3273552" cy="914400"/>
          </a:xfrm>
          <a:prstGeom prst="rect">
            <a:avLst/>
          </a:prstGeom>
          <a:solidFill>
            <a:schemeClr val="accent3"/>
          </a:solidFill>
          <a:ln w="12700">
            <a:solidFill>
              <a:schemeClr val="accent3"/>
            </a:solidFill>
            <a:prstDash val="solid"/>
          </a:ln>
        </p:spPr>
      </p:sp>
      <p:sp>
        <p:nvSpPr>
          <p:cNvPr id="8" name="text-99"/>
          <p:cNvSpPr txBox="1"/>
          <p:nvPr/>
        </p:nvSpPr>
        <p:spPr>
          <a:xfrm>
            <a:off x="8430768" y="1554480"/>
            <a:ext cx="3044952" cy="731520"/>
          </a:xfrm>
          <a:prstGeom prst="rect">
            <a:avLst/>
          </a:prstGeom>
          <a:noFill/>
          <a:ln/>
        </p:spPr>
        <p:txBody>
          <a:bodyPr wrap="square" lIns="0" tIns="0" rIns="0" bIns="0" rtlCol="0" anchor="ctr"/>
          <a:lstStyle/>
          <a:p>
            <a:pPr indent="0" marL="0">
              <a:buNone/>
            </a:pPr>
            <a:r>
              <a:rPr lang="en-US" sz="1400" b="1" dirty="0">
                <a:solidFill>
                  <a:schemeClr val="bg1"/>
                </a:solidFill>
              </a:rPr>
              <a:t>Out-of-Sample: gesperrt</a:t>
            </a:r>
            <a:endParaRPr lang="en-US" sz="1400" dirty="0"/>
          </a:p>
          <a:p>
            <a:pPr indent="0" marL="0">
              <a:buNone/>
            </a:pPr>
            <a:r>
              <a:rPr lang="en-US" sz="1400" dirty="0">
                <a:solidFill>
                  <a:schemeClr val="bg1"/>
                </a:solidFill>
              </a:rPr>
              <a:t>2023 – 2025</a:t>
            </a:r>
            <a:endParaRPr lang="en-US" sz="1400" dirty="0"/>
          </a:p>
        </p:txBody>
      </p:sp>
      <p:sp>
        <p:nvSpPr>
          <p:cNvPr id="9" name="text-100"/>
          <p:cNvSpPr txBox="1"/>
          <p:nvPr/>
        </p:nvSpPr>
        <p:spPr>
          <a:xfrm>
            <a:off x="274320"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2016</a:t>
            </a:r>
            <a:endParaRPr lang="en-US" sz="1100" dirty="0"/>
          </a:p>
        </p:txBody>
      </p:sp>
      <p:sp>
        <p:nvSpPr>
          <p:cNvPr id="10" name="text-101"/>
          <p:cNvSpPr txBox="1"/>
          <p:nvPr/>
        </p:nvSpPr>
        <p:spPr>
          <a:xfrm>
            <a:off x="1380744"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2017</a:t>
            </a:r>
            <a:endParaRPr lang="en-US" sz="1100" dirty="0"/>
          </a:p>
        </p:txBody>
      </p:sp>
      <p:sp>
        <p:nvSpPr>
          <p:cNvPr id="11" name="text-102"/>
          <p:cNvSpPr txBox="1"/>
          <p:nvPr/>
        </p:nvSpPr>
        <p:spPr>
          <a:xfrm>
            <a:off x="2487168"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2018</a:t>
            </a:r>
            <a:endParaRPr lang="en-US" sz="1100" dirty="0"/>
          </a:p>
        </p:txBody>
      </p:sp>
      <p:sp>
        <p:nvSpPr>
          <p:cNvPr id="12" name="text-103"/>
          <p:cNvSpPr txBox="1"/>
          <p:nvPr/>
        </p:nvSpPr>
        <p:spPr>
          <a:xfrm>
            <a:off x="3593592"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2019</a:t>
            </a:r>
            <a:endParaRPr lang="en-US" sz="1100" dirty="0"/>
          </a:p>
        </p:txBody>
      </p:sp>
      <p:sp>
        <p:nvSpPr>
          <p:cNvPr id="13" name="text-104"/>
          <p:cNvSpPr txBox="1"/>
          <p:nvPr/>
        </p:nvSpPr>
        <p:spPr>
          <a:xfrm>
            <a:off x="4700016"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2020</a:t>
            </a:r>
            <a:endParaRPr lang="en-US" sz="1100" dirty="0"/>
          </a:p>
        </p:txBody>
      </p:sp>
      <p:sp>
        <p:nvSpPr>
          <p:cNvPr id="14" name="text-105"/>
          <p:cNvSpPr txBox="1"/>
          <p:nvPr/>
        </p:nvSpPr>
        <p:spPr>
          <a:xfrm>
            <a:off x="5806440"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2021</a:t>
            </a:r>
            <a:endParaRPr lang="en-US" sz="1100" dirty="0"/>
          </a:p>
        </p:txBody>
      </p:sp>
      <p:sp>
        <p:nvSpPr>
          <p:cNvPr id="15" name="text-106"/>
          <p:cNvSpPr txBox="1"/>
          <p:nvPr/>
        </p:nvSpPr>
        <p:spPr>
          <a:xfrm>
            <a:off x="6912864"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2022</a:t>
            </a:r>
            <a:endParaRPr lang="en-US" sz="1100" dirty="0"/>
          </a:p>
        </p:txBody>
      </p:sp>
      <p:sp>
        <p:nvSpPr>
          <p:cNvPr id="16" name="text-107"/>
          <p:cNvSpPr txBox="1"/>
          <p:nvPr/>
        </p:nvSpPr>
        <p:spPr>
          <a:xfrm>
            <a:off x="8019288"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2023</a:t>
            </a:r>
            <a:endParaRPr lang="en-US" sz="1100" dirty="0"/>
          </a:p>
        </p:txBody>
      </p:sp>
      <p:sp>
        <p:nvSpPr>
          <p:cNvPr id="17" name="text-108"/>
          <p:cNvSpPr txBox="1"/>
          <p:nvPr/>
        </p:nvSpPr>
        <p:spPr>
          <a:xfrm>
            <a:off x="9125712"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2024</a:t>
            </a:r>
            <a:endParaRPr lang="en-US" sz="1100" dirty="0"/>
          </a:p>
        </p:txBody>
      </p:sp>
      <p:sp>
        <p:nvSpPr>
          <p:cNvPr id="18" name="text-109"/>
          <p:cNvSpPr txBox="1"/>
          <p:nvPr/>
        </p:nvSpPr>
        <p:spPr>
          <a:xfrm>
            <a:off x="10232136"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2025</a:t>
            </a:r>
            <a:endParaRPr lang="en-US" sz="1100" dirty="0"/>
          </a:p>
        </p:txBody>
      </p:sp>
      <p:sp>
        <p:nvSpPr>
          <p:cNvPr id="19" name="text-110"/>
          <p:cNvSpPr txBox="1"/>
          <p:nvPr/>
        </p:nvSpPr>
        <p:spPr>
          <a:xfrm>
            <a:off x="11338560" y="2468880"/>
            <a:ext cx="548640" cy="274320"/>
          </a:xfrm>
          <a:prstGeom prst="rect">
            <a:avLst/>
          </a:prstGeom>
          <a:noFill/>
          <a:ln/>
        </p:spPr>
        <p:txBody>
          <a:bodyPr wrap="square" lIns="0" tIns="0" rIns="0" bIns="0" rtlCol="0" anchor="t"/>
          <a:lstStyle/>
          <a:p>
            <a:pPr algn="ctr" indent="0" marL="0">
              <a:buNone/>
            </a:pPr>
            <a:r>
              <a:rPr lang="en-US" sz="1100" dirty="0">
                <a:solidFill>
                  <a:schemeClr val="accent4"/>
                </a:solidFill>
              </a:rPr>
              <a:t>2026</a:t>
            </a:r>
            <a:endParaRPr lang="en-US" sz="1100" dirty="0"/>
          </a:p>
        </p:txBody>
      </p:sp>
      <p:sp>
        <p:nvSpPr>
          <p:cNvPr id="20" name="karte-111"/>
          <p:cNvSpPr/>
          <p:nvPr/>
        </p:nvSpPr>
        <p:spPr>
          <a:xfrm>
            <a:off x="548640" y="3108960"/>
            <a:ext cx="5394960" cy="3063240"/>
          </a:xfrm>
          <a:prstGeom prst="roundRect">
            <a:avLst>
              <a:gd name="adj" fmla="val 2388"/>
            </a:avLst>
          </a:prstGeom>
          <a:solidFill>
            <a:schemeClr val="bg2"/>
          </a:solidFill>
          <a:ln w="12700">
            <a:solidFill>
              <a:schemeClr val="bg2"/>
            </a:solidFill>
            <a:prstDash val="solid"/>
          </a:ln>
        </p:spPr>
      </p:sp>
      <p:sp>
        <p:nvSpPr>
          <p:cNvPr id="21" name="karte-text-112"/>
          <p:cNvSpPr txBox="1"/>
          <p:nvPr/>
        </p:nvSpPr>
        <p:spPr>
          <a:xfrm>
            <a:off x="731520" y="3246120"/>
            <a:ext cx="5029200" cy="27889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Warum die Sperre?</a:t>
            </a:r>
            <a:endParaRPr lang="en-US" sz="1700" dirty="0"/>
          </a:p>
          <a:p>
            <a:pPr indent="0" marL="0">
              <a:spcAft>
                <a:spcPts val="400"/>
              </a:spcAft>
              <a:buNone/>
            </a:pPr>
            <a:r>
              <a:rPr lang="en-US" sz="1400" dirty="0">
                <a:solidFill>
                  <a:schemeClr val="tx2"/>
                </a:solidFill>
              </a:rPr>
              <a:t>Wer beim Entwickeln die Testdaten sieht, passt die Strategie unbewusst darauf an. Dann misst der Test nicht mehr «funktioniert die Strategie?», sondern «haben wir gut geraten?». Deshalb ist 2023–2025 im Code gesperrt und wird erst ganz am Schluss genau einmal verwendet.</a:t>
            </a:r>
            <a:endParaRPr lang="en-US" sz="1700" dirty="0"/>
          </a:p>
        </p:txBody>
      </p:sp>
      <p:sp>
        <p:nvSpPr>
          <p:cNvPr id="22" name="karte-113"/>
          <p:cNvSpPr/>
          <p:nvPr/>
        </p:nvSpPr>
        <p:spPr>
          <a:xfrm>
            <a:off x="6217920" y="3108960"/>
            <a:ext cx="5394960" cy="3063240"/>
          </a:xfrm>
          <a:prstGeom prst="roundRect">
            <a:avLst>
              <a:gd name="adj" fmla="val 2388"/>
            </a:avLst>
          </a:prstGeom>
          <a:solidFill>
            <a:schemeClr val="bg2"/>
          </a:solidFill>
          <a:ln w="12700">
            <a:solidFill>
              <a:schemeClr val="bg2"/>
            </a:solidFill>
            <a:prstDash val="solid"/>
          </a:ln>
        </p:spPr>
      </p:sp>
      <p:sp>
        <p:nvSpPr>
          <p:cNvPr id="23" name="karte-text-114"/>
          <p:cNvSpPr txBox="1"/>
          <p:nvPr/>
        </p:nvSpPr>
        <p:spPr>
          <a:xfrm>
            <a:off x="6400800" y="3246120"/>
            <a:ext cx="5029200" cy="27889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Wie ist das umgesetzt?</a:t>
            </a:r>
            <a:endParaRPr lang="en-US" sz="1700" dirty="0"/>
          </a:p>
          <a:p>
            <a:pPr marL="342900" indent="-342900">
              <a:spcAft>
                <a:spcPts val="400"/>
              </a:spcAft>
              <a:buSzPct val="100000"/>
              <a:buChar char="•"/>
            </a:pPr>
            <a:r>
              <a:rPr lang="en-US" sz="1400" dirty="0">
                <a:solidFill>
                  <a:schemeClr val="tx2"/>
                </a:solidFill>
              </a:rPr>
              <a:t>Daten gibt es nur über get_data(«warmup_is» | «is» | «oos» | «full»)</a:t>
            </a:r>
            <a:endParaRPr lang="en-US" sz="1700" dirty="0"/>
          </a:p>
          <a:p>
            <a:pPr marL="342900" indent="-342900">
              <a:spcAft>
                <a:spcPts val="400"/>
              </a:spcAft>
              <a:buSzPct val="100000"/>
              <a:buChar char="•"/>
            </a:pPr>
            <a:r>
              <a:rPr lang="en-US" sz="1400" dirty="0">
                <a:solidFill>
                  <a:schemeClr val="tx2"/>
                </a:solidFill>
              </a:rPr>
              <a:t>«oos» und «full» geben einen Fehler, ausser BMA_ALLOW_OOS=1 ist gesetzt</a:t>
            </a:r>
            <a:endParaRPr lang="en-US" sz="1700" dirty="0"/>
          </a:p>
          <a:p>
            <a:pPr marL="342900" indent="-342900">
              <a:spcAft>
                <a:spcPts val="400"/>
              </a:spcAft>
              <a:buSzPct val="100000"/>
              <a:buChar char="•"/>
            </a:pPr>
            <a:r>
              <a:rPr lang="en-US" sz="1400" dirty="0">
                <a:solidFill>
                  <a:schemeClr val="tx2"/>
                </a:solidFill>
              </a:rPr>
              <a:t>Jeder OOS-Zugriff wird mit Zeit, Commit und Aufrufer in docs/oos_runs.log protokolliert (bisher: leer)</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Kein Blick in die Zukunft</a:t>
            </a:r>
            <a:endParaRPr lang="en-US" sz="3200" dirty="0"/>
          </a:p>
        </p:txBody>
      </p:sp>
      <p:sp>
        <p:nvSpPr>
          <p:cNvPr id="3" name="kreis-115"/>
          <p:cNvSpPr/>
          <p:nvPr/>
        </p:nvSpPr>
        <p:spPr>
          <a:xfrm>
            <a:off x="548640" y="1371600"/>
            <a:ext cx="548640" cy="548640"/>
          </a:xfrm>
          <a:prstGeom prst="ellipse">
            <a:avLst/>
          </a:prstGeom>
          <a:solidFill>
            <a:schemeClr val="accent1"/>
          </a:solidFill>
          <a:ln w="12700">
            <a:solidFill>
              <a:schemeClr val="accent1"/>
            </a:solidFill>
            <a:prstDash val="solid"/>
          </a:ln>
        </p:spPr>
      </p:sp>
      <p:sp>
        <p:nvSpPr>
          <p:cNvPr id="4" name="kreis-text-116"/>
          <p:cNvSpPr txBox="1"/>
          <p:nvPr/>
        </p:nvSpPr>
        <p:spPr>
          <a:xfrm>
            <a:off x="54864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pfeil-117"/>
          <p:cNvSpPr/>
          <p:nvPr/>
        </p:nvSpPr>
        <p:spPr>
          <a:xfrm>
            <a:off x="1234440" y="1645920"/>
            <a:ext cx="2011680" cy="0"/>
          </a:xfrm>
          <a:prstGeom prst="line">
            <a:avLst/>
          </a:prstGeom>
          <a:noFill/>
          <a:ln w="31750">
            <a:solidFill>
              <a:srgbClr val="F7931A"/>
            </a:solidFill>
            <a:prstDash val="solid"/>
            <a:tailEnd type="triangle"/>
          </a:ln>
        </p:spPr>
      </p:sp>
      <p:sp>
        <p:nvSpPr>
          <p:cNvPr id="6" name="text-118"/>
          <p:cNvSpPr txBox="1"/>
          <p:nvPr/>
        </p:nvSpPr>
        <p:spPr>
          <a:xfrm>
            <a:off x="548640" y="2057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Tag t, 23:59 UTC</a:t>
            </a:r>
            <a:endParaRPr lang="en-US" sz="1600" dirty="0"/>
          </a:p>
        </p:txBody>
      </p:sp>
      <p:sp>
        <p:nvSpPr>
          <p:cNvPr id="7" name="text-119"/>
          <p:cNvSpPr txBox="1"/>
          <p:nvPr/>
        </p:nvSpPr>
        <p:spPr>
          <a:xfrm>
            <a:off x="548640" y="2423160"/>
            <a:ext cx="2560320" cy="731520"/>
          </a:xfrm>
          <a:prstGeom prst="rect">
            <a:avLst/>
          </a:prstGeom>
          <a:noFill/>
          <a:ln/>
        </p:spPr>
        <p:txBody>
          <a:bodyPr wrap="square" lIns="0" tIns="0" rIns="0" bIns="0" rtlCol="0" anchor="t"/>
          <a:lstStyle/>
          <a:p>
            <a:pPr indent="0" marL="0">
              <a:buNone/>
            </a:pPr>
            <a:r>
              <a:rPr lang="en-US" sz="1400" dirty="0">
                <a:solidFill>
                  <a:schemeClr val="tx2"/>
                </a:solidFill>
              </a:rPr>
              <a:t>Schlusskurs von Tag t ist bekannt</a:t>
            </a:r>
            <a:endParaRPr lang="en-US" sz="1400" dirty="0"/>
          </a:p>
        </p:txBody>
      </p:sp>
      <p:sp>
        <p:nvSpPr>
          <p:cNvPr id="8" name="kreis-120"/>
          <p:cNvSpPr/>
          <p:nvPr/>
        </p:nvSpPr>
        <p:spPr>
          <a:xfrm>
            <a:off x="3383280" y="1371600"/>
            <a:ext cx="548640" cy="548640"/>
          </a:xfrm>
          <a:prstGeom prst="ellipse">
            <a:avLst/>
          </a:prstGeom>
          <a:solidFill>
            <a:schemeClr val="accent1"/>
          </a:solidFill>
          <a:ln w="12700">
            <a:solidFill>
              <a:schemeClr val="accent1"/>
            </a:solidFill>
            <a:prstDash val="solid"/>
          </a:ln>
        </p:spPr>
      </p:sp>
      <p:sp>
        <p:nvSpPr>
          <p:cNvPr id="9" name="kreis-text-121"/>
          <p:cNvSpPr txBox="1"/>
          <p:nvPr/>
        </p:nvSpPr>
        <p:spPr>
          <a:xfrm>
            <a:off x="338328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pfeil-122"/>
          <p:cNvSpPr/>
          <p:nvPr/>
        </p:nvSpPr>
        <p:spPr>
          <a:xfrm>
            <a:off x="4069080" y="1645920"/>
            <a:ext cx="2011680" cy="0"/>
          </a:xfrm>
          <a:prstGeom prst="line">
            <a:avLst/>
          </a:prstGeom>
          <a:noFill/>
          <a:ln w="31750">
            <a:solidFill>
              <a:srgbClr val="F7931A"/>
            </a:solidFill>
            <a:prstDash val="solid"/>
            <a:tailEnd type="triangle"/>
          </a:ln>
        </p:spPr>
      </p:sp>
      <p:sp>
        <p:nvSpPr>
          <p:cNvPr id="11" name="text-123"/>
          <p:cNvSpPr txBox="1"/>
          <p:nvPr/>
        </p:nvSpPr>
        <p:spPr>
          <a:xfrm>
            <a:off x="3383280" y="2057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Entscheid</a:t>
            </a:r>
            <a:endParaRPr lang="en-US" sz="1600" dirty="0"/>
          </a:p>
        </p:txBody>
      </p:sp>
      <p:sp>
        <p:nvSpPr>
          <p:cNvPr id="12" name="text-124"/>
          <p:cNvSpPr txBox="1"/>
          <p:nvPr/>
        </p:nvSpPr>
        <p:spPr>
          <a:xfrm>
            <a:off x="3383280" y="2423160"/>
            <a:ext cx="2560320" cy="731520"/>
          </a:xfrm>
          <a:prstGeom prst="rect">
            <a:avLst/>
          </a:prstGeom>
          <a:noFill/>
          <a:ln/>
        </p:spPr>
        <p:txBody>
          <a:bodyPr wrap="square" lIns="0" tIns="0" rIns="0" bIns="0" rtlCol="0" anchor="t"/>
          <a:lstStyle/>
          <a:p>
            <a:pPr indent="0" marL="0">
              <a:buNone/>
            </a:pPr>
            <a:r>
              <a:rPr lang="en-US" sz="1400" dirty="0">
                <a:solidFill>
                  <a:schemeClr val="tx2"/>
                </a:solidFill>
              </a:rPr>
              <a:t>Strategie rechnet mit Daten bis und mit Tag t</a:t>
            </a:r>
            <a:endParaRPr lang="en-US" sz="1400" dirty="0"/>
          </a:p>
        </p:txBody>
      </p:sp>
      <p:sp>
        <p:nvSpPr>
          <p:cNvPr id="13" name="kreis-125"/>
          <p:cNvSpPr/>
          <p:nvPr/>
        </p:nvSpPr>
        <p:spPr>
          <a:xfrm>
            <a:off x="6217920" y="1371600"/>
            <a:ext cx="548640" cy="548640"/>
          </a:xfrm>
          <a:prstGeom prst="ellipse">
            <a:avLst/>
          </a:prstGeom>
          <a:solidFill>
            <a:schemeClr val="accent1"/>
          </a:solidFill>
          <a:ln w="12700">
            <a:solidFill>
              <a:schemeClr val="accent1"/>
            </a:solidFill>
            <a:prstDash val="solid"/>
          </a:ln>
        </p:spPr>
      </p:sp>
      <p:sp>
        <p:nvSpPr>
          <p:cNvPr id="14" name="kreis-text-126"/>
          <p:cNvSpPr txBox="1"/>
          <p:nvPr/>
        </p:nvSpPr>
        <p:spPr>
          <a:xfrm>
            <a:off x="621792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pfeil-127"/>
          <p:cNvSpPr/>
          <p:nvPr/>
        </p:nvSpPr>
        <p:spPr>
          <a:xfrm>
            <a:off x="6903720" y="1645920"/>
            <a:ext cx="2011680" cy="0"/>
          </a:xfrm>
          <a:prstGeom prst="line">
            <a:avLst/>
          </a:prstGeom>
          <a:noFill/>
          <a:ln w="31750">
            <a:solidFill>
              <a:srgbClr val="F7931A"/>
            </a:solidFill>
            <a:prstDash val="solid"/>
            <a:tailEnd type="triangle"/>
          </a:ln>
        </p:spPr>
      </p:sp>
      <p:sp>
        <p:nvSpPr>
          <p:cNvPr id="16" name="text-128"/>
          <p:cNvSpPr txBox="1"/>
          <p:nvPr/>
        </p:nvSpPr>
        <p:spPr>
          <a:xfrm>
            <a:off x="6217920" y="2057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Handel</a:t>
            </a:r>
            <a:endParaRPr lang="en-US" sz="1600" dirty="0"/>
          </a:p>
        </p:txBody>
      </p:sp>
      <p:sp>
        <p:nvSpPr>
          <p:cNvPr id="17" name="text-129"/>
          <p:cNvSpPr txBox="1"/>
          <p:nvPr/>
        </p:nvSpPr>
        <p:spPr>
          <a:xfrm>
            <a:off x="6217920" y="2423160"/>
            <a:ext cx="2560320" cy="731520"/>
          </a:xfrm>
          <a:prstGeom prst="rect">
            <a:avLst/>
          </a:prstGeom>
          <a:noFill/>
          <a:ln/>
        </p:spPr>
        <p:txBody>
          <a:bodyPr wrap="square" lIns="0" tIns="0" rIns="0" bIns="0" rtlCol="0" anchor="t"/>
          <a:lstStyle/>
          <a:p>
            <a:pPr indent="0" marL="0">
              <a:buNone/>
            </a:pPr>
            <a:r>
              <a:rPr lang="en-US" sz="1400" dirty="0">
                <a:solidFill>
                  <a:schemeClr val="tx2"/>
                </a:solidFill>
              </a:rPr>
              <a:t>Kauf/Verkauf zum Schlusskurs t, Gebühr 0.1 %</a:t>
            </a:r>
            <a:endParaRPr lang="en-US" sz="1400" dirty="0"/>
          </a:p>
        </p:txBody>
      </p:sp>
      <p:sp>
        <p:nvSpPr>
          <p:cNvPr id="18" name="kreis-130"/>
          <p:cNvSpPr/>
          <p:nvPr/>
        </p:nvSpPr>
        <p:spPr>
          <a:xfrm>
            <a:off x="9052560" y="1371600"/>
            <a:ext cx="548640" cy="548640"/>
          </a:xfrm>
          <a:prstGeom prst="ellipse">
            <a:avLst/>
          </a:prstGeom>
          <a:solidFill>
            <a:schemeClr val="accent1"/>
          </a:solidFill>
          <a:ln w="12700">
            <a:solidFill>
              <a:schemeClr val="accent1"/>
            </a:solidFill>
            <a:prstDash val="solid"/>
          </a:ln>
        </p:spPr>
      </p:sp>
      <p:sp>
        <p:nvSpPr>
          <p:cNvPr id="19" name="kreis-text-131"/>
          <p:cNvSpPr txBox="1"/>
          <p:nvPr/>
        </p:nvSpPr>
        <p:spPr>
          <a:xfrm>
            <a:off x="905256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132"/>
          <p:cNvSpPr txBox="1"/>
          <p:nvPr/>
        </p:nvSpPr>
        <p:spPr>
          <a:xfrm>
            <a:off x="9052560" y="2057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Tag t+1</a:t>
            </a:r>
            <a:endParaRPr lang="en-US" sz="1600" dirty="0"/>
          </a:p>
        </p:txBody>
      </p:sp>
      <p:sp>
        <p:nvSpPr>
          <p:cNvPr id="21" name="text-133"/>
          <p:cNvSpPr txBox="1"/>
          <p:nvPr/>
        </p:nvSpPr>
        <p:spPr>
          <a:xfrm>
            <a:off x="9052560" y="2423160"/>
            <a:ext cx="2560320" cy="731520"/>
          </a:xfrm>
          <a:prstGeom prst="rect">
            <a:avLst/>
          </a:prstGeom>
          <a:noFill/>
          <a:ln/>
        </p:spPr>
        <p:txBody>
          <a:bodyPr wrap="square" lIns="0" tIns="0" rIns="0" bIns="0" rtlCol="0" anchor="t"/>
          <a:lstStyle/>
          <a:p>
            <a:pPr indent="0" marL="0">
              <a:buNone/>
            </a:pPr>
            <a:r>
              <a:rPr lang="en-US" sz="1400" dirty="0">
                <a:solidFill>
                  <a:schemeClr val="tx2"/>
                </a:solidFill>
              </a:rPr>
              <a:t>erst jetzt zählt die Rendite der neuen Position</a:t>
            </a:r>
            <a:endParaRPr lang="en-US" sz="1400" dirty="0"/>
          </a:p>
        </p:txBody>
      </p:sp>
      <p:sp>
        <p:nvSpPr>
          <p:cNvPr id="22" name="karte-134"/>
          <p:cNvSpPr/>
          <p:nvPr/>
        </p:nvSpPr>
        <p:spPr>
          <a:xfrm>
            <a:off x="548640" y="3429000"/>
            <a:ext cx="5394960" cy="2743200"/>
          </a:xfrm>
          <a:prstGeom prst="roundRect">
            <a:avLst>
              <a:gd name="adj" fmla="val 2667"/>
            </a:avLst>
          </a:prstGeom>
          <a:solidFill>
            <a:schemeClr val="bg2"/>
          </a:solidFill>
          <a:ln w="12700">
            <a:solidFill>
              <a:schemeClr val="bg2"/>
            </a:solidFill>
            <a:prstDash val="solid"/>
          </a:ln>
        </p:spPr>
      </p:sp>
      <p:sp>
        <p:nvSpPr>
          <p:cNvPr id="23" name="karte-text-135"/>
          <p:cNvSpPr txBox="1"/>
          <p:nvPr/>
        </p:nvSpPr>
        <p:spPr>
          <a:xfrm>
            <a:off x="731520" y="3566160"/>
            <a:ext cx="5029200" cy="24688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Look-Ahead-Bias</a:t>
            </a:r>
            <a:endParaRPr lang="en-US" sz="1700" dirty="0"/>
          </a:p>
          <a:p>
            <a:pPr indent="0" marL="0">
              <a:spcAft>
                <a:spcPts val="400"/>
              </a:spcAft>
              <a:buNone/>
            </a:pPr>
            <a:r>
              <a:rPr lang="en-US" sz="1400" dirty="0">
                <a:solidFill>
                  <a:schemeClr val="tx2"/>
                </a:solidFill>
              </a:rPr>
              <a:t>Der häufigste Backtest-Fehler: eine Strategie nutzt (versehentlich) eine Information, die sie zum Entscheidungszeitpunkt noch nicht haben konnte, z. B. den Schlusskurs von morgen. Das Resultat sieht dann fantastisch aus, ist aber wertlos.</a:t>
            </a:r>
            <a:endParaRPr lang="en-US" sz="1700" dirty="0"/>
          </a:p>
        </p:txBody>
      </p:sp>
      <p:sp>
        <p:nvSpPr>
          <p:cNvPr id="24" name="karte-136"/>
          <p:cNvSpPr/>
          <p:nvPr/>
        </p:nvSpPr>
        <p:spPr>
          <a:xfrm>
            <a:off x="6217920" y="3429000"/>
            <a:ext cx="5394960" cy="2743200"/>
          </a:xfrm>
          <a:prstGeom prst="roundRect">
            <a:avLst>
              <a:gd name="adj" fmla="val 2667"/>
            </a:avLst>
          </a:prstGeom>
          <a:solidFill>
            <a:schemeClr val="bg2"/>
          </a:solidFill>
          <a:ln w="12700">
            <a:solidFill>
              <a:schemeClr val="bg2"/>
            </a:solidFill>
            <a:prstDash val="solid"/>
          </a:ln>
        </p:spPr>
      </p:sp>
      <p:sp>
        <p:nvSpPr>
          <p:cNvPr id="25" name="karte-text-137"/>
          <p:cNvSpPr txBox="1"/>
          <p:nvPr/>
        </p:nvSpPr>
        <p:spPr>
          <a:xfrm>
            <a:off x="6400800" y="3566160"/>
            <a:ext cx="5029200" cy="24688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Wie wir uns schützen</a:t>
            </a:r>
            <a:endParaRPr lang="en-US" sz="1700" dirty="0"/>
          </a:p>
          <a:p>
            <a:pPr marL="342900" indent="-342900">
              <a:spcAft>
                <a:spcPts val="400"/>
              </a:spcAft>
              <a:buSzPct val="100000"/>
              <a:buChar char="•"/>
            </a:pPr>
            <a:r>
              <a:rPr lang="en-US" sz="1400" dirty="0">
                <a:solidFill>
                  <a:schemeClr val="tx2"/>
                </a:solidFill>
              </a:rPr>
              <a:t>Backtester verschiebt jedes Signal um einen Tag: position = signal.shift(1)</a:t>
            </a:r>
            <a:endParaRPr lang="en-US" sz="1700" dirty="0"/>
          </a:p>
          <a:p>
            <a:pPr marL="342900" indent="-342900">
              <a:spcAft>
                <a:spcPts val="400"/>
              </a:spcAft>
              <a:buSzPct val="100000"/>
              <a:buChar char="•"/>
            </a:pPr>
            <a:r>
              <a:rPr lang="en-US" sz="1400" dirty="0">
                <a:solidFill>
                  <a:schemeClr val="tx2"/>
                </a:solidFill>
              </a:rPr>
              <a:t>Nur Durchschnitte über vergangene Tage (kein «center»)</a:t>
            </a:r>
            <a:endParaRPr lang="en-US" sz="1700" dirty="0"/>
          </a:p>
          <a:p>
            <a:pPr marL="342900" indent="-342900">
              <a:spcAft>
                <a:spcPts val="400"/>
              </a:spcAft>
              <a:buSzPct val="100000"/>
              <a:buChar char="•"/>
            </a:pPr>
            <a:r>
              <a:rPr lang="en-US" sz="1400" dirty="0">
                <a:solidFill>
                  <a:schemeClr val="tx2"/>
                </a:solidFill>
              </a:rPr>
              <a:t>Kausalitätstest: Die Strategie muss bis Tag t dasselbe entscheiden, egal ob Daten nach t existieren</a:t>
            </a:r>
            <a:endParaRPr lang="en-US" sz="1700" dirty="0"/>
          </a:p>
          <a:p>
            <a:pPr marL="342900" indent="-342900">
              <a:spcAft>
                <a:spcPts val="400"/>
              </a:spcAft>
              <a:buSzPct val="100000"/>
              <a:buChar char="•"/>
            </a:pPr>
            <a:r>
              <a:rPr lang="en-US" sz="1400" dirty="0">
                <a:solidFill>
                  <a:schemeClr val="tx2"/>
                </a:solidFill>
              </a:rPr>
              <a:t>Ein absichtlich «schummelnder» Test-Bot wird erkannt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Die vier Strategien</a:t>
            </a:r>
            <a:endParaRPr lang="en-US" sz="3200" dirty="0"/>
          </a:p>
        </p:txBody>
      </p:sp>
      <p:sp>
        <p:nvSpPr>
          <p:cNvPr id="3" name="karte-138"/>
          <p:cNvSpPr/>
          <p:nvPr/>
        </p:nvSpPr>
        <p:spPr>
          <a:xfrm>
            <a:off x="548640" y="1280160"/>
            <a:ext cx="5394960" cy="2057400"/>
          </a:xfrm>
          <a:prstGeom prst="roundRect">
            <a:avLst>
              <a:gd name="adj" fmla="val 3556"/>
            </a:avLst>
          </a:prstGeom>
          <a:solidFill>
            <a:schemeClr val="bg2"/>
          </a:solidFill>
          <a:ln w="12700">
            <a:solidFill>
              <a:schemeClr val="bg2"/>
            </a:solidFill>
            <a:prstDash val="solid"/>
          </a:ln>
        </p:spPr>
      </p:sp>
      <p:sp>
        <p:nvSpPr>
          <p:cNvPr id="4" name="karte-text-139"/>
          <p:cNvSpPr txBox="1"/>
          <p:nvPr/>
        </p:nvSpPr>
        <p:spPr>
          <a:xfrm>
            <a:off x="731520" y="2148840"/>
            <a:ext cx="502920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Kaufen, wenn der 50-Tage-Durchschnitt über den 200-Tage-Durchschnitt steigt; verkaufen, wenn er darunter fällt.</a:t>
            </a:r>
            <a:endParaRPr lang="en-US" sz="1400" dirty="0"/>
          </a:p>
        </p:txBody>
      </p:sp>
      <p:sp>
        <p:nvSpPr>
          <p:cNvPr id="5" name="kreis-140"/>
          <p:cNvSpPr/>
          <p:nvPr/>
        </p:nvSpPr>
        <p:spPr>
          <a:xfrm>
            <a:off x="731520" y="1463040"/>
            <a:ext cx="502920" cy="502920"/>
          </a:xfrm>
          <a:prstGeom prst="ellipse">
            <a:avLst/>
          </a:prstGeom>
          <a:solidFill>
            <a:schemeClr val="accent1"/>
          </a:solidFill>
          <a:ln w="12700">
            <a:solidFill>
              <a:schemeClr val="accent1"/>
            </a:solidFill>
            <a:prstDash val="solid"/>
          </a:ln>
        </p:spPr>
      </p:sp>
      <p:sp>
        <p:nvSpPr>
          <p:cNvPr id="6" name="kreis-text-141"/>
          <p:cNvSpPr txBox="1"/>
          <p:nvPr/>
        </p:nvSpPr>
        <p:spPr>
          <a:xfrm>
            <a:off x="731520" y="1463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S1</a:t>
            </a:r>
            <a:endParaRPr lang="en-US" sz="1400" dirty="0"/>
          </a:p>
        </p:txBody>
      </p:sp>
      <p:sp>
        <p:nvSpPr>
          <p:cNvPr id="7" name="text-142"/>
          <p:cNvSpPr txBox="1"/>
          <p:nvPr/>
        </p:nvSpPr>
        <p:spPr>
          <a:xfrm>
            <a:off x="1371600" y="1435608"/>
            <a:ext cx="4389120" cy="320040"/>
          </a:xfrm>
          <a:prstGeom prst="rect">
            <a:avLst/>
          </a:prstGeom>
          <a:noFill/>
          <a:ln/>
        </p:spPr>
        <p:txBody>
          <a:bodyPr wrap="square" lIns="0" tIns="0" rIns="0" bIns="0" rtlCol="0" anchor="t"/>
          <a:lstStyle/>
          <a:p>
            <a:pPr indent="0" marL="0">
              <a:buNone/>
            </a:pPr>
            <a:r>
              <a:rPr lang="en-US" sz="1700" b="1" dirty="0">
                <a:solidFill>
                  <a:schemeClr val="tx1"/>
                </a:solidFill>
              </a:rPr>
              <a:t>S1 SMA-Crossover</a:t>
            </a:r>
            <a:endParaRPr lang="en-US" sz="1700" dirty="0"/>
          </a:p>
        </p:txBody>
      </p:sp>
      <p:sp>
        <p:nvSpPr>
          <p:cNvPr id="8" name="text-143"/>
          <p:cNvSpPr txBox="1"/>
          <p:nvPr/>
        </p:nvSpPr>
        <p:spPr>
          <a:xfrm>
            <a:off x="1371600" y="1737360"/>
            <a:ext cx="4389120" cy="274320"/>
          </a:xfrm>
          <a:prstGeom prst="rect">
            <a:avLst/>
          </a:prstGeom>
          <a:noFill/>
          <a:ln/>
        </p:spPr>
        <p:txBody>
          <a:bodyPr wrap="square" lIns="0" tIns="0" rIns="0" bIns="0" rtlCol="0" anchor="t"/>
          <a:lstStyle/>
          <a:p>
            <a:pPr indent="0" marL="0">
              <a:buNone/>
            </a:pPr>
            <a:r>
              <a:rPr lang="en-US" sz="1300" i="1" dirty="0">
                <a:solidFill>
                  <a:schemeClr val="accent4"/>
                </a:solidFill>
              </a:rPr>
              <a:t>Trendfolge</a:t>
            </a:r>
            <a:endParaRPr lang="en-US" sz="1300" dirty="0"/>
          </a:p>
        </p:txBody>
      </p:sp>
      <p:sp>
        <p:nvSpPr>
          <p:cNvPr id="9" name="karte-144"/>
          <p:cNvSpPr/>
          <p:nvPr/>
        </p:nvSpPr>
        <p:spPr>
          <a:xfrm>
            <a:off x="6217920" y="1280160"/>
            <a:ext cx="5394960" cy="2057400"/>
          </a:xfrm>
          <a:prstGeom prst="roundRect">
            <a:avLst>
              <a:gd name="adj" fmla="val 3556"/>
            </a:avLst>
          </a:prstGeom>
          <a:solidFill>
            <a:schemeClr val="bg2"/>
          </a:solidFill>
          <a:ln w="12700">
            <a:solidFill>
              <a:schemeClr val="bg2"/>
            </a:solidFill>
            <a:prstDash val="solid"/>
          </a:ln>
        </p:spPr>
      </p:sp>
      <p:sp>
        <p:nvSpPr>
          <p:cNvPr id="10" name="karte-text-145"/>
          <p:cNvSpPr txBox="1"/>
          <p:nvPr/>
        </p:nvSpPr>
        <p:spPr>
          <a:xfrm>
            <a:off x="6400800" y="2148840"/>
            <a:ext cx="502920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Kaufen, wenn der Kurs höher ist als vor 30 Tagen UND die Schwankung (ATR) nicht über dem 1.5-fachen ihres Normalwerts liegt; sonst verkaufen.</a:t>
            </a:r>
            <a:endParaRPr lang="en-US" sz="1400" dirty="0"/>
          </a:p>
        </p:txBody>
      </p:sp>
      <p:sp>
        <p:nvSpPr>
          <p:cNvPr id="11" name="kreis-146"/>
          <p:cNvSpPr/>
          <p:nvPr/>
        </p:nvSpPr>
        <p:spPr>
          <a:xfrm>
            <a:off x="6400800" y="1463040"/>
            <a:ext cx="502920" cy="502920"/>
          </a:xfrm>
          <a:prstGeom prst="ellipse">
            <a:avLst/>
          </a:prstGeom>
          <a:solidFill>
            <a:schemeClr val="accent1"/>
          </a:solidFill>
          <a:ln w="12700">
            <a:solidFill>
              <a:schemeClr val="accent1"/>
            </a:solidFill>
            <a:prstDash val="solid"/>
          </a:ln>
        </p:spPr>
      </p:sp>
      <p:sp>
        <p:nvSpPr>
          <p:cNvPr id="12" name="kreis-text-147"/>
          <p:cNvSpPr txBox="1"/>
          <p:nvPr/>
        </p:nvSpPr>
        <p:spPr>
          <a:xfrm>
            <a:off x="6400800" y="1463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S2</a:t>
            </a:r>
            <a:endParaRPr lang="en-US" sz="1400" dirty="0"/>
          </a:p>
        </p:txBody>
      </p:sp>
      <p:sp>
        <p:nvSpPr>
          <p:cNvPr id="13" name="text-148"/>
          <p:cNvSpPr txBox="1"/>
          <p:nvPr/>
        </p:nvSpPr>
        <p:spPr>
          <a:xfrm>
            <a:off x="7040880" y="1435608"/>
            <a:ext cx="4389120" cy="320040"/>
          </a:xfrm>
          <a:prstGeom prst="rect">
            <a:avLst/>
          </a:prstGeom>
          <a:noFill/>
          <a:ln/>
        </p:spPr>
        <p:txBody>
          <a:bodyPr wrap="square" lIns="0" tIns="0" rIns="0" bIns="0" rtlCol="0" anchor="t"/>
          <a:lstStyle/>
          <a:p>
            <a:pPr indent="0" marL="0">
              <a:buNone/>
            </a:pPr>
            <a:r>
              <a:rPr lang="en-US" sz="1700" b="1" dirty="0">
                <a:solidFill>
                  <a:schemeClr val="tx1"/>
                </a:solidFill>
              </a:rPr>
              <a:t>S2 Momentum + ATR</a:t>
            </a:r>
            <a:endParaRPr lang="en-US" sz="1700" dirty="0"/>
          </a:p>
        </p:txBody>
      </p:sp>
      <p:sp>
        <p:nvSpPr>
          <p:cNvPr id="14" name="text-149"/>
          <p:cNvSpPr txBox="1"/>
          <p:nvPr/>
        </p:nvSpPr>
        <p:spPr>
          <a:xfrm>
            <a:off x="7040880" y="1737360"/>
            <a:ext cx="4389120" cy="274320"/>
          </a:xfrm>
          <a:prstGeom prst="rect">
            <a:avLst/>
          </a:prstGeom>
          <a:noFill/>
          <a:ln/>
        </p:spPr>
        <p:txBody>
          <a:bodyPr wrap="square" lIns="0" tIns="0" rIns="0" bIns="0" rtlCol="0" anchor="t"/>
          <a:lstStyle/>
          <a:p>
            <a:pPr indent="0" marL="0">
              <a:buNone/>
            </a:pPr>
            <a:r>
              <a:rPr lang="en-US" sz="1300" i="1" dirty="0">
                <a:solidFill>
                  <a:schemeClr val="accent4"/>
                </a:solidFill>
              </a:rPr>
              <a:t>Momentum mit Risikobremse</a:t>
            </a:r>
            <a:endParaRPr lang="en-US" sz="1300" dirty="0"/>
          </a:p>
        </p:txBody>
      </p:sp>
      <p:sp>
        <p:nvSpPr>
          <p:cNvPr id="15" name="karte-150"/>
          <p:cNvSpPr/>
          <p:nvPr/>
        </p:nvSpPr>
        <p:spPr>
          <a:xfrm>
            <a:off x="548640" y="3520440"/>
            <a:ext cx="5394960" cy="2057400"/>
          </a:xfrm>
          <a:prstGeom prst="roundRect">
            <a:avLst>
              <a:gd name="adj" fmla="val 3556"/>
            </a:avLst>
          </a:prstGeom>
          <a:solidFill>
            <a:schemeClr val="bg2"/>
          </a:solidFill>
          <a:ln w="12700">
            <a:solidFill>
              <a:schemeClr val="bg2"/>
            </a:solidFill>
            <a:prstDash val="solid"/>
          </a:ln>
        </p:spPr>
      </p:sp>
      <p:sp>
        <p:nvSpPr>
          <p:cNvPr id="16" name="karte-text-151"/>
          <p:cNvSpPr txBox="1"/>
          <p:nvPr/>
        </p:nvSpPr>
        <p:spPr>
          <a:xfrm>
            <a:off x="731520" y="4389120"/>
            <a:ext cx="502920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Kaufen, wenn der Kurs über dem 200-Tage-Ø liegt UND der RSI unter 30 fällt (überverkauft); verkaufen bei RSI über 70 oder Trendbruch.</a:t>
            </a:r>
            <a:endParaRPr lang="en-US" sz="1400" dirty="0"/>
          </a:p>
        </p:txBody>
      </p:sp>
      <p:sp>
        <p:nvSpPr>
          <p:cNvPr id="17" name="kreis-152"/>
          <p:cNvSpPr/>
          <p:nvPr/>
        </p:nvSpPr>
        <p:spPr>
          <a:xfrm>
            <a:off x="731520" y="3703320"/>
            <a:ext cx="502920" cy="502920"/>
          </a:xfrm>
          <a:prstGeom prst="ellipse">
            <a:avLst/>
          </a:prstGeom>
          <a:solidFill>
            <a:schemeClr val="accent1"/>
          </a:solidFill>
          <a:ln w="12700">
            <a:solidFill>
              <a:schemeClr val="accent1"/>
            </a:solidFill>
            <a:prstDash val="solid"/>
          </a:ln>
        </p:spPr>
      </p:sp>
      <p:sp>
        <p:nvSpPr>
          <p:cNvPr id="18" name="kreis-text-153"/>
          <p:cNvSpPr txBox="1"/>
          <p:nvPr/>
        </p:nvSpPr>
        <p:spPr>
          <a:xfrm>
            <a:off x="731520" y="3703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S3</a:t>
            </a:r>
            <a:endParaRPr lang="en-US" sz="1400" dirty="0"/>
          </a:p>
        </p:txBody>
      </p:sp>
      <p:sp>
        <p:nvSpPr>
          <p:cNvPr id="19" name="text-154"/>
          <p:cNvSpPr txBox="1"/>
          <p:nvPr/>
        </p:nvSpPr>
        <p:spPr>
          <a:xfrm>
            <a:off x="1371600" y="3675888"/>
            <a:ext cx="4389120" cy="320040"/>
          </a:xfrm>
          <a:prstGeom prst="rect">
            <a:avLst/>
          </a:prstGeom>
          <a:noFill/>
          <a:ln/>
        </p:spPr>
        <p:txBody>
          <a:bodyPr wrap="square" lIns="0" tIns="0" rIns="0" bIns="0" rtlCol="0" anchor="t"/>
          <a:lstStyle/>
          <a:p>
            <a:pPr indent="0" marL="0">
              <a:buNone/>
            </a:pPr>
            <a:r>
              <a:rPr lang="en-US" sz="1700" b="1" dirty="0">
                <a:solidFill>
                  <a:schemeClr val="tx1"/>
                </a:solidFill>
              </a:rPr>
              <a:t>S3 RSI-Reversion</a:t>
            </a:r>
            <a:endParaRPr lang="en-US" sz="1700" dirty="0"/>
          </a:p>
        </p:txBody>
      </p:sp>
      <p:sp>
        <p:nvSpPr>
          <p:cNvPr id="20" name="text-155"/>
          <p:cNvSpPr txBox="1"/>
          <p:nvPr/>
        </p:nvSpPr>
        <p:spPr>
          <a:xfrm>
            <a:off x="1371600" y="3977640"/>
            <a:ext cx="4389120" cy="274320"/>
          </a:xfrm>
          <a:prstGeom prst="rect">
            <a:avLst/>
          </a:prstGeom>
          <a:noFill/>
          <a:ln/>
        </p:spPr>
        <p:txBody>
          <a:bodyPr wrap="square" lIns="0" tIns="0" rIns="0" bIns="0" rtlCol="0" anchor="t"/>
          <a:lstStyle/>
          <a:p>
            <a:pPr indent="0" marL="0">
              <a:buNone/>
            </a:pPr>
            <a:r>
              <a:rPr lang="en-US" sz="1300" i="1" dirty="0">
                <a:solidFill>
                  <a:schemeClr val="accent4"/>
                </a:solidFill>
              </a:rPr>
              <a:t>Rücksetzer im Aufwärtstrend kaufen</a:t>
            </a:r>
            <a:endParaRPr lang="en-US" sz="1300" dirty="0"/>
          </a:p>
        </p:txBody>
      </p:sp>
      <p:sp>
        <p:nvSpPr>
          <p:cNvPr id="21" name="karte-156"/>
          <p:cNvSpPr/>
          <p:nvPr/>
        </p:nvSpPr>
        <p:spPr>
          <a:xfrm>
            <a:off x="6217920" y="3520440"/>
            <a:ext cx="5394960" cy="2057400"/>
          </a:xfrm>
          <a:prstGeom prst="roundRect">
            <a:avLst>
              <a:gd name="adj" fmla="val 3556"/>
            </a:avLst>
          </a:prstGeom>
          <a:solidFill>
            <a:schemeClr val="bg2"/>
          </a:solidFill>
          <a:ln w="12700">
            <a:solidFill>
              <a:schemeClr val="bg2"/>
            </a:solidFill>
            <a:prstDash val="solid"/>
          </a:ln>
        </p:spPr>
      </p:sp>
      <p:sp>
        <p:nvSpPr>
          <p:cNvPr id="22" name="karte-text-157"/>
          <p:cNvSpPr txBox="1"/>
          <p:nvPr/>
        </p:nvSpPr>
        <p:spPr>
          <a:xfrm>
            <a:off x="6400800" y="4389120"/>
            <a:ext cx="5029200" cy="10515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Kaufen bei Gier (F&amp;G über 50) UND kurzfristigem Aufwärtstrend (20-Tage-Ø über 50-Tage-Ø); verkaufen bei Angst (unter 30) oder Trendbruch.</a:t>
            </a:r>
            <a:endParaRPr lang="en-US" sz="1400" dirty="0"/>
          </a:p>
        </p:txBody>
      </p:sp>
      <p:sp>
        <p:nvSpPr>
          <p:cNvPr id="23" name="kreis-158"/>
          <p:cNvSpPr/>
          <p:nvPr/>
        </p:nvSpPr>
        <p:spPr>
          <a:xfrm>
            <a:off x="6400800" y="3703320"/>
            <a:ext cx="502920" cy="502920"/>
          </a:xfrm>
          <a:prstGeom prst="ellipse">
            <a:avLst/>
          </a:prstGeom>
          <a:solidFill>
            <a:schemeClr val="accent1"/>
          </a:solidFill>
          <a:ln w="12700">
            <a:solidFill>
              <a:schemeClr val="accent1"/>
            </a:solidFill>
            <a:prstDash val="solid"/>
          </a:ln>
        </p:spPr>
      </p:sp>
      <p:sp>
        <p:nvSpPr>
          <p:cNvPr id="24" name="kreis-text-159"/>
          <p:cNvSpPr txBox="1"/>
          <p:nvPr/>
        </p:nvSpPr>
        <p:spPr>
          <a:xfrm>
            <a:off x="6400800" y="3703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S4</a:t>
            </a:r>
            <a:endParaRPr lang="en-US" sz="1400" dirty="0"/>
          </a:p>
        </p:txBody>
      </p:sp>
      <p:sp>
        <p:nvSpPr>
          <p:cNvPr id="25" name="text-160"/>
          <p:cNvSpPr txBox="1"/>
          <p:nvPr/>
        </p:nvSpPr>
        <p:spPr>
          <a:xfrm>
            <a:off x="7040880" y="3675888"/>
            <a:ext cx="4389120" cy="320040"/>
          </a:xfrm>
          <a:prstGeom prst="rect">
            <a:avLst/>
          </a:prstGeom>
          <a:noFill/>
          <a:ln/>
        </p:spPr>
        <p:txBody>
          <a:bodyPr wrap="square" lIns="0" tIns="0" rIns="0" bIns="0" rtlCol="0" anchor="t"/>
          <a:lstStyle/>
          <a:p>
            <a:pPr indent="0" marL="0">
              <a:buNone/>
            </a:pPr>
            <a:r>
              <a:rPr lang="en-US" sz="1700" b="1" dirty="0">
                <a:solidFill>
                  <a:schemeClr val="tx1"/>
                </a:solidFill>
              </a:rPr>
              <a:t>S4 Fear &amp; Greed + MA</a:t>
            </a:r>
            <a:endParaRPr lang="en-US" sz="1700" dirty="0"/>
          </a:p>
        </p:txBody>
      </p:sp>
      <p:sp>
        <p:nvSpPr>
          <p:cNvPr id="26" name="text-161"/>
          <p:cNvSpPr txBox="1"/>
          <p:nvPr/>
        </p:nvSpPr>
        <p:spPr>
          <a:xfrm>
            <a:off x="7040880" y="3977640"/>
            <a:ext cx="4389120" cy="274320"/>
          </a:xfrm>
          <a:prstGeom prst="rect">
            <a:avLst/>
          </a:prstGeom>
          <a:noFill/>
          <a:ln/>
        </p:spPr>
        <p:txBody>
          <a:bodyPr wrap="square" lIns="0" tIns="0" rIns="0" bIns="0" rtlCol="0" anchor="t"/>
          <a:lstStyle/>
          <a:p>
            <a:pPr indent="0" marL="0">
              <a:buNone/>
            </a:pPr>
            <a:r>
              <a:rPr lang="en-US" sz="1300" i="1" dirty="0">
                <a:solidFill>
                  <a:schemeClr val="accent4"/>
                </a:solidFill>
              </a:rPr>
              <a:t>Stimmung + Trend</a:t>
            </a:r>
            <a:endParaRPr lang="en-US" sz="1300" dirty="0"/>
          </a:p>
        </p:txBody>
      </p:sp>
      <p:sp>
        <p:nvSpPr>
          <p:cNvPr id="27" name="text-162"/>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400" i="1" dirty="0">
                <a:solidFill>
                  <a:schemeClr val="accent4"/>
                </a:solidFill>
              </a:rPr>
              <a:t>Alle Strategien sind entweder voll investiert oder in Cash (kein Hebel, keine Short-Positionen). Ohne neues Signal bleibt die Position, wie sie ist (HOLD).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Kombination und Massstab</a:t>
            </a:r>
            <a:endParaRPr lang="en-US" sz="3200" dirty="0"/>
          </a:p>
        </p:txBody>
      </p:sp>
      <p:sp>
        <p:nvSpPr>
          <p:cNvPr id="3" name="karte-163"/>
          <p:cNvSpPr/>
          <p:nvPr/>
        </p:nvSpPr>
        <p:spPr>
          <a:xfrm>
            <a:off x="548640" y="1280160"/>
            <a:ext cx="5394960" cy="2926080"/>
          </a:xfrm>
          <a:prstGeom prst="roundRect">
            <a:avLst>
              <a:gd name="adj" fmla="val 2500"/>
            </a:avLst>
          </a:prstGeom>
          <a:solidFill>
            <a:schemeClr val="bg2"/>
          </a:solidFill>
          <a:ln w="12700">
            <a:solidFill>
              <a:schemeClr val="bg2"/>
            </a:solidFill>
            <a:prstDash val="solid"/>
          </a:ln>
        </p:spPr>
      </p:sp>
      <p:sp>
        <p:nvSpPr>
          <p:cNvPr id="4" name="karte-text-164"/>
          <p:cNvSpPr txBox="1"/>
          <p:nvPr/>
        </p:nvSpPr>
        <p:spPr>
          <a:xfrm>
            <a:off x="731520" y="1417320"/>
            <a:ext cx="502920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Ensemble</a:t>
            </a:r>
            <a:endParaRPr lang="en-US" sz="1700" dirty="0"/>
          </a:p>
          <a:p>
            <a:pPr marL="342900" indent="-342900">
              <a:spcAft>
                <a:spcPts val="400"/>
              </a:spcAft>
              <a:buSzPct val="100000"/>
              <a:buChar char="•"/>
            </a:pPr>
            <a:r>
              <a:rPr lang="en-US" sz="1400" dirty="0">
                <a:solidFill>
                  <a:schemeClr val="tx2"/>
                </a:solidFill>
              </a:rPr>
              <a:t>Alle vier Strategien gleichzeitig, je mit 25 % des Kapitals</a:t>
            </a:r>
            <a:endParaRPr lang="en-US" sz="1700" dirty="0"/>
          </a:p>
          <a:p>
            <a:pPr marL="342900" indent="-342900">
              <a:spcAft>
                <a:spcPts val="400"/>
              </a:spcAft>
              <a:buSzPct val="100000"/>
              <a:buChar char="•"/>
            </a:pPr>
            <a:r>
              <a:rPr lang="en-US" sz="1400" dirty="0">
                <a:solidFill>
                  <a:schemeClr val="tx2"/>
                </a:solidFill>
              </a:rPr>
              <a:t>Exposure = Mittelwert der vier Entscheide: 0, 25, 50, 75 oder 100 % investiert</a:t>
            </a:r>
            <a:endParaRPr lang="en-US" sz="1700" dirty="0"/>
          </a:p>
          <a:p>
            <a:pPr marL="342900" indent="-342900">
              <a:spcAft>
                <a:spcPts val="400"/>
              </a:spcAft>
              <a:buSzPct val="100000"/>
              <a:buChar char="•"/>
            </a:pPr>
            <a:r>
              <a:rPr lang="en-US" sz="1400" dirty="0">
                <a:solidFill>
                  <a:schemeClr val="tx2"/>
                </a:solidFill>
              </a:rPr>
              <a:t>Zwei Varianten: mit Standard- und mit optimierten Parametern</a:t>
            </a:r>
            <a:endParaRPr lang="en-US" sz="1700" dirty="0"/>
          </a:p>
          <a:p>
            <a:pPr marL="342900" indent="-342900">
              <a:spcAft>
                <a:spcPts val="400"/>
              </a:spcAft>
              <a:buSzPct val="100000"/>
              <a:buChar char="•"/>
            </a:pPr>
            <a:r>
              <a:rPr lang="en-US" sz="1400" dirty="0">
                <a:solidFill>
                  <a:schemeClr val="tx2"/>
                </a:solidFill>
              </a:rPr>
              <a:t>Gewichte werden bewusst NICHT optimiert (sonst noch mehr Overfitting)</a:t>
            </a:r>
            <a:endParaRPr lang="en-US" sz="1700" dirty="0"/>
          </a:p>
        </p:txBody>
      </p:sp>
      <p:sp>
        <p:nvSpPr>
          <p:cNvPr id="5" name="karte-165"/>
          <p:cNvSpPr/>
          <p:nvPr/>
        </p:nvSpPr>
        <p:spPr>
          <a:xfrm>
            <a:off x="6217920" y="1280160"/>
            <a:ext cx="5394960" cy="2926080"/>
          </a:xfrm>
          <a:prstGeom prst="roundRect">
            <a:avLst>
              <a:gd name="adj" fmla="val 2500"/>
            </a:avLst>
          </a:prstGeom>
          <a:solidFill>
            <a:schemeClr val="bg2"/>
          </a:solidFill>
          <a:ln w="12700">
            <a:solidFill>
              <a:schemeClr val="bg2"/>
            </a:solidFill>
            <a:prstDash val="solid"/>
          </a:ln>
        </p:spPr>
      </p:sp>
      <p:sp>
        <p:nvSpPr>
          <p:cNvPr id="6" name="karte-text-166"/>
          <p:cNvSpPr txBox="1"/>
          <p:nvPr/>
        </p:nvSpPr>
        <p:spPr>
          <a:xfrm>
            <a:off x="6400800" y="1417320"/>
            <a:ext cx="502920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Buy &amp; Hold (Massstab)</a:t>
            </a:r>
            <a:endParaRPr lang="en-US" sz="1700" dirty="0"/>
          </a:p>
          <a:p>
            <a:pPr marL="342900" indent="-342900">
              <a:spcAft>
                <a:spcPts val="400"/>
              </a:spcAft>
              <a:buSzPct val="100000"/>
              <a:buChar char="•"/>
            </a:pPr>
            <a:r>
              <a:rPr lang="en-US" sz="1400" dirty="0">
                <a:solidFill>
                  <a:schemeClr val="tx2"/>
                </a:solidFill>
              </a:rPr>
              <a:t>Kauft am ersten Tag (Schlusskurs 1.1.2018) und hält bis zum Ende</a:t>
            </a:r>
            <a:endParaRPr lang="en-US" sz="1700" dirty="0"/>
          </a:p>
          <a:p>
            <a:pPr marL="342900" indent="-342900">
              <a:spcAft>
                <a:spcPts val="400"/>
              </a:spcAft>
              <a:buSzPct val="100000"/>
              <a:buChar char="•"/>
            </a:pPr>
            <a:r>
              <a:rPr lang="en-US" sz="1400" dirty="0">
                <a:solidFill>
                  <a:schemeClr val="tx2"/>
                </a:solidFill>
              </a:rPr>
              <a:t>Zahlt dieselbe Einstiegsgebühr von 0.1 % wie jede Strategie</a:t>
            </a:r>
            <a:endParaRPr lang="en-US" sz="1700" dirty="0"/>
          </a:p>
          <a:p>
            <a:pPr marL="342900" indent="-342900">
              <a:spcAft>
                <a:spcPts val="400"/>
              </a:spcAft>
              <a:buSzPct val="100000"/>
              <a:buChar char="•"/>
            </a:pPr>
            <a:r>
              <a:rPr lang="en-US" sz="1400" dirty="0">
                <a:solidFill>
                  <a:schemeClr val="tx2"/>
                </a:solidFill>
              </a:rPr>
              <a:t>Jede Variante muss sich mit diesem einfachsten Vorgehen messen</a:t>
            </a:r>
            <a:endParaRPr lang="en-US" sz="1700" dirty="0"/>
          </a:p>
        </p:txBody>
      </p:sp>
      <p:sp>
        <p:nvSpPr>
          <p:cNvPr id="7" name="text-167"/>
          <p:cNvSpPr txBox="1"/>
          <p:nvPr/>
        </p:nvSpPr>
        <p:spPr>
          <a:xfrm>
            <a:off x="548640" y="4480560"/>
            <a:ext cx="11064240" cy="411480"/>
          </a:xfrm>
          <a:prstGeom prst="rect">
            <a:avLst/>
          </a:prstGeom>
          <a:noFill/>
          <a:ln/>
        </p:spPr>
        <p:txBody>
          <a:bodyPr wrap="square" lIns="0" tIns="0" rIns="0" bIns="0" rtlCol="0" anchor="t"/>
          <a:lstStyle/>
          <a:p>
            <a:pPr indent="0" marL="0">
              <a:buNone/>
            </a:pPr>
            <a:r>
              <a:rPr lang="en-US" sz="1800" b="1" dirty="0">
                <a:solidFill>
                  <a:schemeClr val="tx1"/>
                </a:solidFill>
              </a:rPr>
              <a:t>11 Varianten im Vergleich</a:t>
            </a:r>
            <a:endParaRPr lang="en-US" sz="1800" dirty="0"/>
          </a:p>
        </p:txBody>
      </p:sp>
      <p:sp>
        <p:nvSpPr>
          <p:cNvPr id="8" name="variante-168"/>
          <p:cNvSpPr/>
          <p:nvPr/>
        </p:nvSpPr>
        <p:spPr>
          <a:xfrm>
            <a:off x="548640" y="4983480"/>
            <a:ext cx="914400" cy="685800"/>
          </a:xfrm>
          <a:prstGeom prst="roundRect">
            <a:avLst>
              <a:gd name="adj" fmla="val 10667"/>
            </a:avLst>
          </a:prstGeom>
          <a:solidFill>
            <a:schemeClr val="accent4"/>
          </a:solidFill>
          <a:ln w="12700">
            <a:solidFill>
              <a:schemeClr val="accent4"/>
            </a:solidFill>
            <a:prstDash val="solid"/>
          </a:ln>
        </p:spPr>
      </p:sp>
      <p:sp>
        <p:nvSpPr>
          <p:cNvPr id="9" name="text-169"/>
          <p:cNvSpPr txBox="1"/>
          <p:nvPr/>
        </p:nvSpPr>
        <p:spPr>
          <a:xfrm>
            <a:off x="54864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S1 Std</a:t>
            </a:r>
            <a:endParaRPr lang="en-US" sz="1300" dirty="0"/>
          </a:p>
        </p:txBody>
      </p:sp>
      <p:sp>
        <p:nvSpPr>
          <p:cNvPr id="10" name="variante-170"/>
          <p:cNvSpPr/>
          <p:nvPr/>
        </p:nvSpPr>
        <p:spPr>
          <a:xfrm>
            <a:off x="1554480" y="4983480"/>
            <a:ext cx="914400" cy="685800"/>
          </a:xfrm>
          <a:prstGeom prst="roundRect">
            <a:avLst>
              <a:gd name="adj" fmla="val 10667"/>
            </a:avLst>
          </a:prstGeom>
          <a:solidFill>
            <a:schemeClr val="accent4"/>
          </a:solidFill>
          <a:ln w="12700">
            <a:solidFill>
              <a:schemeClr val="accent4"/>
            </a:solidFill>
            <a:prstDash val="solid"/>
          </a:ln>
        </p:spPr>
      </p:sp>
      <p:sp>
        <p:nvSpPr>
          <p:cNvPr id="11" name="text-171"/>
          <p:cNvSpPr txBox="1"/>
          <p:nvPr/>
        </p:nvSpPr>
        <p:spPr>
          <a:xfrm>
            <a:off x="155448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S1 Opt</a:t>
            </a:r>
            <a:endParaRPr lang="en-US" sz="1300" dirty="0"/>
          </a:p>
        </p:txBody>
      </p:sp>
      <p:sp>
        <p:nvSpPr>
          <p:cNvPr id="12" name="variante-172"/>
          <p:cNvSpPr/>
          <p:nvPr/>
        </p:nvSpPr>
        <p:spPr>
          <a:xfrm>
            <a:off x="2560320" y="4983480"/>
            <a:ext cx="914400" cy="685800"/>
          </a:xfrm>
          <a:prstGeom prst="roundRect">
            <a:avLst>
              <a:gd name="adj" fmla="val 10667"/>
            </a:avLst>
          </a:prstGeom>
          <a:solidFill>
            <a:schemeClr val="accent4"/>
          </a:solidFill>
          <a:ln w="12700">
            <a:solidFill>
              <a:schemeClr val="accent4"/>
            </a:solidFill>
            <a:prstDash val="solid"/>
          </a:ln>
        </p:spPr>
      </p:sp>
      <p:sp>
        <p:nvSpPr>
          <p:cNvPr id="13" name="text-173"/>
          <p:cNvSpPr txBox="1"/>
          <p:nvPr/>
        </p:nvSpPr>
        <p:spPr>
          <a:xfrm>
            <a:off x="256032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S2 Std</a:t>
            </a:r>
            <a:endParaRPr lang="en-US" sz="1300" dirty="0"/>
          </a:p>
        </p:txBody>
      </p:sp>
      <p:sp>
        <p:nvSpPr>
          <p:cNvPr id="14" name="variante-174"/>
          <p:cNvSpPr/>
          <p:nvPr/>
        </p:nvSpPr>
        <p:spPr>
          <a:xfrm>
            <a:off x="3566160" y="4983480"/>
            <a:ext cx="914400" cy="685800"/>
          </a:xfrm>
          <a:prstGeom prst="roundRect">
            <a:avLst>
              <a:gd name="adj" fmla="val 10667"/>
            </a:avLst>
          </a:prstGeom>
          <a:solidFill>
            <a:schemeClr val="accent4"/>
          </a:solidFill>
          <a:ln w="12700">
            <a:solidFill>
              <a:schemeClr val="accent4"/>
            </a:solidFill>
            <a:prstDash val="solid"/>
          </a:ln>
        </p:spPr>
      </p:sp>
      <p:sp>
        <p:nvSpPr>
          <p:cNvPr id="15" name="text-175"/>
          <p:cNvSpPr txBox="1"/>
          <p:nvPr/>
        </p:nvSpPr>
        <p:spPr>
          <a:xfrm>
            <a:off x="356616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S2 Opt</a:t>
            </a:r>
            <a:endParaRPr lang="en-US" sz="1300" dirty="0"/>
          </a:p>
        </p:txBody>
      </p:sp>
      <p:sp>
        <p:nvSpPr>
          <p:cNvPr id="16" name="variante-176"/>
          <p:cNvSpPr/>
          <p:nvPr/>
        </p:nvSpPr>
        <p:spPr>
          <a:xfrm>
            <a:off x="4572000" y="4983480"/>
            <a:ext cx="914400" cy="685800"/>
          </a:xfrm>
          <a:prstGeom prst="roundRect">
            <a:avLst>
              <a:gd name="adj" fmla="val 10667"/>
            </a:avLst>
          </a:prstGeom>
          <a:solidFill>
            <a:schemeClr val="accent4"/>
          </a:solidFill>
          <a:ln w="12700">
            <a:solidFill>
              <a:schemeClr val="accent4"/>
            </a:solidFill>
            <a:prstDash val="solid"/>
          </a:ln>
        </p:spPr>
      </p:sp>
      <p:sp>
        <p:nvSpPr>
          <p:cNvPr id="17" name="text-177"/>
          <p:cNvSpPr txBox="1"/>
          <p:nvPr/>
        </p:nvSpPr>
        <p:spPr>
          <a:xfrm>
            <a:off x="457200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S3 Std</a:t>
            </a:r>
            <a:endParaRPr lang="en-US" sz="1300" dirty="0"/>
          </a:p>
        </p:txBody>
      </p:sp>
      <p:sp>
        <p:nvSpPr>
          <p:cNvPr id="18" name="variante-178"/>
          <p:cNvSpPr/>
          <p:nvPr/>
        </p:nvSpPr>
        <p:spPr>
          <a:xfrm>
            <a:off x="5577840" y="4983480"/>
            <a:ext cx="914400" cy="685800"/>
          </a:xfrm>
          <a:prstGeom prst="roundRect">
            <a:avLst>
              <a:gd name="adj" fmla="val 10667"/>
            </a:avLst>
          </a:prstGeom>
          <a:solidFill>
            <a:schemeClr val="accent4"/>
          </a:solidFill>
          <a:ln w="12700">
            <a:solidFill>
              <a:schemeClr val="accent4"/>
            </a:solidFill>
            <a:prstDash val="solid"/>
          </a:ln>
        </p:spPr>
      </p:sp>
      <p:sp>
        <p:nvSpPr>
          <p:cNvPr id="19" name="text-179"/>
          <p:cNvSpPr txBox="1"/>
          <p:nvPr/>
        </p:nvSpPr>
        <p:spPr>
          <a:xfrm>
            <a:off x="557784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S3 Opt</a:t>
            </a:r>
            <a:endParaRPr lang="en-US" sz="1300" dirty="0"/>
          </a:p>
        </p:txBody>
      </p:sp>
      <p:sp>
        <p:nvSpPr>
          <p:cNvPr id="20" name="variante-180"/>
          <p:cNvSpPr/>
          <p:nvPr/>
        </p:nvSpPr>
        <p:spPr>
          <a:xfrm>
            <a:off x="6583680" y="4983480"/>
            <a:ext cx="914400" cy="685800"/>
          </a:xfrm>
          <a:prstGeom prst="roundRect">
            <a:avLst>
              <a:gd name="adj" fmla="val 10667"/>
            </a:avLst>
          </a:prstGeom>
          <a:solidFill>
            <a:schemeClr val="accent4"/>
          </a:solidFill>
          <a:ln w="12700">
            <a:solidFill>
              <a:schemeClr val="accent4"/>
            </a:solidFill>
            <a:prstDash val="solid"/>
          </a:ln>
        </p:spPr>
      </p:sp>
      <p:sp>
        <p:nvSpPr>
          <p:cNvPr id="21" name="text-181"/>
          <p:cNvSpPr txBox="1"/>
          <p:nvPr/>
        </p:nvSpPr>
        <p:spPr>
          <a:xfrm>
            <a:off x="658368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S4 Std</a:t>
            </a:r>
            <a:endParaRPr lang="en-US" sz="1300" dirty="0"/>
          </a:p>
        </p:txBody>
      </p:sp>
      <p:sp>
        <p:nvSpPr>
          <p:cNvPr id="22" name="variante-182"/>
          <p:cNvSpPr/>
          <p:nvPr/>
        </p:nvSpPr>
        <p:spPr>
          <a:xfrm>
            <a:off x="7589520" y="4983480"/>
            <a:ext cx="914400" cy="685800"/>
          </a:xfrm>
          <a:prstGeom prst="roundRect">
            <a:avLst>
              <a:gd name="adj" fmla="val 10667"/>
            </a:avLst>
          </a:prstGeom>
          <a:solidFill>
            <a:schemeClr val="accent4"/>
          </a:solidFill>
          <a:ln w="12700">
            <a:solidFill>
              <a:schemeClr val="accent4"/>
            </a:solidFill>
            <a:prstDash val="solid"/>
          </a:ln>
        </p:spPr>
      </p:sp>
      <p:sp>
        <p:nvSpPr>
          <p:cNvPr id="23" name="text-183"/>
          <p:cNvSpPr txBox="1"/>
          <p:nvPr/>
        </p:nvSpPr>
        <p:spPr>
          <a:xfrm>
            <a:off x="758952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S4 Opt</a:t>
            </a:r>
            <a:endParaRPr lang="en-US" sz="1300" dirty="0"/>
          </a:p>
        </p:txBody>
      </p:sp>
      <p:sp>
        <p:nvSpPr>
          <p:cNvPr id="24" name="variante-184"/>
          <p:cNvSpPr/>
          <p:nvPr/>
        </p:nvSpPr>
        <p:spPr>
          <a:xfrm>
            <a:off x="8595360" y="4983480"/>
            <a:ext cx="914400" cy="685800"/>
          </a:xfrm>
          <a:prstGeom prst="roundRect">
            <a:avLst>
              <a:gd name="adj" fmla="val 10667"/>
            </a:avLst>
          </a:prstGeom>
          <a:solidFill>
            <a:schemeClr val="accent1"/>
          </a:solidFill>
          <a:ln w="12700">
            <a:solidFill>
              <a:schemeClr val="accent1"/>
            </a:solidFill>
            <a:prstDash val="solid"/>
          </a:ln>
        </p:spPr>
      </p:sp>
      <p:sp>
        <p:nvSpPr>
          <p:cNvPr id="25" name="text-185"/>
          <p:cNvSpPr txBox="1"/>
          <p:nvPr/>
        </p:nvSpPr>
        <p:spPr>
          <a:xfrm>
            <a:off x="859536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Ens Std</a:t>
            </a:r>
            <a:endParaRPr lang="en-US" sz="1300" dirty="0"/>
          </a:p>
        </p:txBody>
      </p:sp>
      <p:sp>
        <p:nvSpPr>
          <p:cNvPr id="26" name="variante-186"/>
          <p:cNvSpPr/>
          <p:nvPr/>
        </p:nvSpPr>
        <p:spPr>
          <a:xfrm>
            <a:off x="9601200" y="4983480"/>
            <a:ext cx="914400" cy="685800"/>
          </a:xfrm>
          <a:prstGeom prst="roundRect">
            <a:avLst>
              <a:gd name="adj" fmla="val 10667"/>
            </a:avLst>
          </a:prstGeom>
          <a:solidFill>
            <a:schemeClr val="accent1"/>
          </a:solidFill>
          <a:ln w="12700">
            <a:solidFill>
              <a:schemeClr val="accent1"/>
            </a:solidFill>
            <a:prstDash val="solid"/>
          </a:ln>
        </p:spPr>
      </p:sp>
      <p:sp>
        <p:nvSpPr>
          <p:cNvPr id="27" name="text-187"/>
          <p:cNvSpPr txBox="1"/>
          <p:nvPr/>
        </p:nvSpPr>
        <p:spPr>
          <a:xfrm>
            <a:off x="960120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Ens Opt</a:t>
            </a:r>
            <a:endParaRPr lang="en-US" sz="1300" dirty="0"/>
          </a:p>
        </p:txBody>
      </p:sp>
      <p:sp>
        <p:nvSpPr>
          <p:cNvPr id="28" name="variante-188"/>
          <p:cNvSpPr/>
          <p:nvPr/>
        </p:nvSpPr>
        <p:spPr>
          <a:xfrm>
            <a:off x="10607040" y="4983480"/>
            <a:ext cx="914400" cy="685800"/>
          </a:xfrm>
          <a:prstGeom prst="roundRect">
            <a:avLst>
              <a:gd name="adj" fmla="val 10667"/>
            </a:avLst>
          </a:prstGeom>
          <a:solidFill>
            <a:schemeClr val="tx1"/>
          </a:solidFill>
          <a:ln w="12700">
            <a:solidFill>
              <a:schemeClr val="tx1"/>
            </a:solidFill>
            <a:prstDash val="solid"/>
          </a:ln>
        </p:spPr>
      </p:sp>
      <p:sp>
        <p:nvSpPr>
          <p:cNvPr id="29" name="text-189"/>
          <p:cNvSpPr txBox="1"/>
          <p:nvPr/>
        </p:nvSpPr>
        <p:spPr>
          <a:xfrm>
            <a:off x="10607040" y="4983480"/>
            <a:ext cx="914400" cy="685800"/>
          </a:xfrm>
          <a:prstGeom prst="rect">
            <a:avLst/>
          </a:prstGeom>
          <a:noFill/>
          <a:ln/>
        </p:spPr>
        <p:txBody>
          <a:bodyPr wrap="square" lIns="0" tIns="0" rIns="0" bIns="0" rtlCol="0" anchor="ctr"/>
          <a:lstStyle/>
          <a:p>
            <a:pPr algn="ctr" indent="0" marL="0">
              <a:buNone/>
            </a:pPr>
            <a:r>
              <a:rPr lang="en-US" sz="1300" b="1" dirty="0">
                <a:solidFill>
                  <a:schemeClr val="bg1"/>
                </a:solidFill>
              </a:rPr>
              <a:t>B&amp;H</a:t>
            </a:r>
            <a:endParaRPr lang="en-US" sz="1300" dirty="0"/>
          </a:p>
        </p:txBody>
      </p:sp>
      <p:sp>
        <p:nvSpPr>
          <p:cNvPr id="30" name="text-190"/>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dirty="0">
                <a:solidFill>
                  <a:schemeClr val="accent4"/>
                </a:solidFill>
              </a:rPr>
              <a:t>Std = Standardparameter aus der Literatur · Opt = auf 2018–2022 optimierte Parameter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Kennzahlen: Was messen wir?</a:t>
            </a:r>
            <a:endParaRPr lang="en-US" sz="3200" dirty="0"/>
          </a:p>
        </p:txBody>
      </p:sp>
      <p:sp>
        <p:nvSpPr>
          <p:cNvPr id="3" name="karte-191"/>
          <p:cNvSpPr/>
          <p:nvPr/>
        </p:nvSpPr>
        <p:spPr>
          <a:xfrm>
            <a:off x="548640" y="1280160"/>
            <a:ext cx="5394960" cy="2286000"/>
          </a:xfrm>
          <a:prstGeom prst="roundRect">
            <a:avLst>
              <a:gd name="adj" fmla="val 3200"/>
            </a:avLst>
          </a:prstGeom>
          <a:solidFill>
            <a:schemeClr val="bg2"/>
          </a:solidFill>
          <a:ln w="12700">
            <a:solidFill>
              <a:schemeClr val="bg2"/>
            </a:solidFill>
            <a:prstDash val="solid"/>
          </a:ln>
        </p:spPr>
      </p:sp>
      <p:sp>
        <p:nvSpPr>
          <p:cNvPr id="4" name="karte-text-192"/>
          <p:cNvSpPr txBox="1"/>
          <p:nvPr/>
        </p:nvSpPr>
        <p:spPr>
          <a:xfrm>
            <a:off x="731520" y="1417320"/>
            <a:ext cx="5029200" cy="201168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Sharpe Ratio</a:t>
            </a:r>
            <a:endParaRPr lang="en-US" sz="1800" dirty="0"/>
          </a:p>
          <a:p>
            <a:pPr indent="0" marL="0">
              <a:spcAft>
                <a:spcPts val="400"/>
              </a:spcAft>
              <a:buNone/>
            </a:pPr>
            <a:r>
              <a:rPr lang="en-US" sz="1400" dirty="0">
                <a:solidFill>
                  <a:schemeClr val="tx2"/>
                </a:solidFill>
              </a:rPr>
              <a:t>Rendite pro Einheit Schwankung, aufs Jahr hochgerechnet.</a:t>
            </a:r>
            <a:endParaRPr lang="en-US" sz="1800" dirty="0"/>
          </a:p>
          <a:p>
            <a:pPr indent="0" marL="0">
              <a:spcAft>
                <a:spcPts val="400"/>
              </a:spcAft>
              <a:buNone/>
            </a:pPr>
            <a:r>
              <a:rPr lang="en-US" sz="1400" dirty="0">
                <a:solidFill>
                  <a:schemeClr val="tx2"/>
                </a:solidFill>
              </a:rPr>
              <a:t>Ø Tagesrendite ÷ Standardabweichung × √365</a:t>
            </a:r>
            <a:endParaRPr lang="en-US" sz="1800" dirty="0"/>
          </a:p>
          <a:p>
            <a:pPr indent="0" marL="0">
              <a:spcAft>
                <a:spcPts val="400"/>
              </a:spcAft>
              <a:buNone/>
            </a:pPr>
            <a:r>
              <a:rPr lang="en-US" sz="1400" dirty="0">
                <a:solidFill>
                  <a:schemeClr val="tx2"/>
                </a:solidFill>
              </a:rPr>
              <a:t>Hauptkennzahl der Fragestellung. Über 1 gilt als gut.</a:t>
            </a:r>
            <a:endParaRPr lang="en-US" sz="1800" dirty="0"/>
          </a:p>
        </p:txBody>
      </p:sp>
      <p:sp>
        <p:nvSpPr>
          <p:cNvPr id="5" name="karte-193"/>
          <p:cNvSpPr/>
          <p:nvPr/>
        </p:nvSpPr>
        <p:spPr>
          <a:xfrm>
            <a:off x="6217920" y="1280160"/>
            <a:ext cx="5394960" cy="2286000"/>
          </a:xfrm>
          <a:prstGeom prst="roundRect">
            <a:avLst>
              <a:gd name="adj" fmla="val 3200"/>
            </a:avLst>
          </a:prstGeom>
          <a:solidFill>
            <a:schemeClr val="bg2"/>
          </a:solidFill>
          <a:ln w="12700">
            <a:solidFill>
              <a:schemeClr val="bg2"/>
            </a:solidFill>
            <a:prstDash val="solid"/>
          </a:ln>
        </p:spPr>
      </p:sp>
      <p:sp>
        <p:nvSpPr>
          <p:cNvPr id="6" name="karte-text-194"/>
          <p:cNvSpPr txBox="1"/>
          <p:nvPr/>
        </p:nvSpPr>
        <p:spPr>
          <a:xfrm>
            <a:off x="6400800" y="1417320"/>
            <a:ext cx="5029200" cy="201168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Sortino Ratio</a:t>
            </a:r>
            <a:endParaRPr lang="en-US" sz="1800" dirty="0"/>
          </a:p>
          <a:p>
            <a:pPr indent="0" marL="0">
              <a:spcAft>
                <a:spcPts val="400"/>
              </a:spcAft>
              <a:buNone/>
            </a:pPr>
            <a:r>
              <a:rPr lang="en-US" sz="1400" dirty="0">
                <a:solidFill>
                  <a:schemeClr val="tx2"/>
                </a:solidFill>
              </a:rPr>
              <a:t>Wie Sharpe, bestraft aber nur Verluste, nicht Gewinne.</a:t>
            </a:r>
            <a:endParaRPr lang="en-US" sz="1800" dirty="0"/>
          </a:p>
          <a:p>
            <a:pPr indent="0" marL="0">
              <a:spcAft>
                <a:spcPts val="400"/>
              </a:spcAft>
              <a:buNone/>
            </a:pPr>
            <a:r>
              <a:rPr lang="en-US" sz="1400" dirty="0">
                <a:solidFill>
                  <a:schemeClr val="tx2"/>
                </a:solidFill>
              </a:rPr>
              <a:t>Ø Rendite ÷ Abwärtsabweichung × √365</a:t>
            </a:r>
            <a:endParaRPr lang="en-US" sz="1800" dirty="0"/>
          </a:p>
          <a:p>
            <a:pPr indent="0" marL="0">
              <a:spcAft>
                <a:spcPts val="400"/>
              </a:spcAft>
              <a:buNone/>
            </a:pPr>
            <a:r>
              <a:rPr lang="en-US" sz="1400" dirty="0">
                <a:solidFill>
                  <a:schemeClr val="tx2"/>
                </a:solidFill>
              </a:rPr>
              <a:t>Fairer für Strategien mit grossen Gewinnsprüngen.</a:t>
            </a:r>
            <a:endParaRPr lang="en-US" sz="1800" dirty="0"/>
          </a:p>
        </p:txBody>
      </p:sp>
      <p:sp>
        <p:nvSpPr>
          <p:cNvPr id="7" name="karte-195"/>
          <p:cNvSpPr/>
          <p:nvPr/>
        </p:nvSpPr>
        <p:spPr>
          <a:xfrm>
            <a:off x="548640" y="3749040"/>
            <a:ext cx="5394960" cy="2286000"/>
          </a:xfrm>
          <a:prstGeom prst="roundRect">
            <a:avLst>
              <a:gd name="adj" fmla="val 3200"/>
            </a:avLst>
          </a:prstGeom>
          <a:solidFill>
            <a:schemeClr val="bg2"/>
          </a:solidFill>
          <a:ln w="12700">
            <a:solidFill>
              <a:schemeClr val="bg2"/>
            </a:solidFill>
            <a:prstDash val="solid"/>
          </a:ln>
        </p:spPr>
      </p:sp>
      <p:sp>
        <p:nvSpPr>
          <p:cNvPr id="8" name="karte-text-196"/>
          <p:cNvSpPr txBox="1"/>
          <p:nvPr/>
        </p:nvSpPr>
        <p:spPr>
          <a:xfrm>
            <a:off x="731520" y="3886200"/>
            <a:ext cx="5029200" cy="201168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Max Drawdown</a:t>
            </a:r>
            <a:endParaRPr lang="en-US" sz="1800" dirty="0"/>
          </a:p>
          <a:p>
            <a:pPr indent="0" marL="0">
              <a:spcAft>
                <a:spcPts val="400"/>
              </a:spcAft>
              <a:buNone/>
            </a:pPr>
            <a:r>
              <a:rPr lang="en-US" sz="1400" dirty="0">
                <a:solidFill>
                  <a:schemeClr val="tx2"/>
                </a:solidFill>
              </a:rPr>
              <a:t>Grösster Verlust vom Höchststand bis zum Tiefpunkt.</a:t>
            </a:r>
            <a:endParaRPr lang="en-US" sz="1800" dirty="0"/>
          </a:p>
          <a:p>
            <a:pPr indent="0" marL="0">
              <a:spcAft>
                <a:spcPts val="400"/>
              </a:spcAft>
              <a:buNone/>
            </a:pPr>
            <a:r>
              <a:rPr lang="en-US" sz="1400" dirty="0">
                <a:solidFill>
                  <a:schemeClr val="tx2"/>
                </a:solidFill>
              </a:rPr>
              <a:t>min(Kapital ÷ bisheriges Maximum − 1)</a:t>
            </a:r>
            <a:endParaRPr lang="en-US" sz="1800" dirty="0"/>
          </a:p>
          <a:p>
            <a:pPr indent="0" marL="0">
              <a:spcAft>
                <a:spcPts val="400"/>
              </a:spcAft>
              <a:buNone/>
            </a:pPr>
            <a:r>
              <a:rPr lang="en-US" sz="1400" dirty="0">
                <a:solidFill>
                  <a:schemeClr val="tx2"/>
                </a:solidFill>
              </a:rPr>
              <a:t>Zeigt, was ein Anleger aushalten muss.</a:t>
            </a:r>
            <a:endParaRPr lang="en-US" sz="1800" dirty="0"/>
          </a:p>
        </p:txBody>
      </p:sp>
      <p:sp>
        <p:nvSpPr>
          <p:cNvPr id="9" name="karte-197"/>
          <p:cNvSpPr/>
          <p:nvPr/>
        </p:nvSpPr>
        <p:spPr>
          <a:xfrm>
            <a:off x="6217920" y="3749040"/>
            <a:ext cx="5394960" cy="2286000"/>
          </a:xfrm>
          <a:prstGeom prst="roundRect">
            <a:avLst>
              <a:gd name="adj" fmla="val 3200"/>
            </a:avLst>
          </a:prstGeom>
          <a:solidFill>
            <a:schemeClr val="bg2"/>
          </a:solidFill>
          <a:ln w="12700">
            <a:solidFill>
              <a:schemeClr val="bg2"/>
            </a:solidFill>
            <a:prstDash val="solid"/>
          </a:ln>
        </p:spPr>
      </p:sp>
      <p:sp>
        <p:nvSpPr>
          <p:cNvPr id="10" name="karte-text-198"/>
          <p:cNvSpPr txBox="1"/>
          <p:nvPr/>
        </p:nvSpPr>
        <p:spPr>
          <a:xfrm>
            <a:off x="6400800" y="3886200"/>
            <a:ext cx="5029200" cy="201168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CAGR</a:t>
            </a:r>
            <a:endParaRPr lang="en-US" sz="1800" dirty="0"/>
          </a:p>
          <a:p>
            <a:pPr indent="0" marL="0">
              <a:spcAft>
                <a:spcPts val="400"/>
              </a:spcAft>
              <a:buNone/>
            </a:pPr>
            <a:r>
              <a:rPr lang="en-US" sz="1400" dirty="0">
                <a:solidFill>
                  <a:schemeClr val="tx2"/>
                </a:solidFill>
              </a:rPr>
              <a:t>Durchschnittliche jährliche Wachstumsrate.</a:t>
            </a:r>
            <a:endParaRPr lang="en-US" sz="1800" dirty="0"/>
          </a:p>
          <a:p>
            <a:pPr indent="0" marL="0">
              <a:spcAft>
                <a:spcPts val="400"/>
              </a:spcAft>
              <a:buNone/>
            </a:pPr>
            <a:r>
              <a:rPr lang="en-US" sz="1400" dirty="0">
                <a:solidFill>
                  <a:schemeClr val="tx2"/>
                </a:solidFill>
              </a:rPr>
              <a:t>Endkapital ^ (365 ÷ Tage) − 1</a:t>
            </a:r>
            <a:endParaRPr lang="en-US" sz="1800" dirty="0"/>
          </a:p>
          <a:p>
            <a:pPr indent="0" marL="0">
              <a:spcAft>
                <a:spcPts val="400"/>
              </a:spcAft>
              <a:buNone/>
            </a:pPr>
            <a:r>
              <a:rPr lang="en-US" sz="1400" dirty="0">
                <a:solidFill>
                  <a:schemeClr val="tx2"/>
                </a:solidFill>
              </a:rPr>
              <a:t>Vergleichbar über verschieden lange Zeiträume.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Optimierung und die Gefahr des Overfittings</a:t>
            </a:r>
            <a:endParaRPr lang="en-US" sz="3200" dirty="0"/>
          </a:p>
        </p:txBody>
      </p:sp>
      <p:pic>
        <p:nvPicPr>
          <p:cNvPr id="3" name="heatmap-199" descr="C:\Users\tukib\OneDrive - bbw.ch\BMS\BMA\bma-btc-tradingbot\results\optimization\s4_feargreed_trend_heatmap.png">    </p:cNvPr>
          <p:cNvPicPr>
            <a:picLocks noChangeAspect="1"/>
          </p:cNvPicPr>
          <p:nvPr/>
        </p:nvPicPr>
        <p:blipFill>
          <a:blip r:embed="rId1"/>
          <a:stretch>
            <a:fillRect/>
          </a:stretch>
        </p:blipFill>
        <p:spPr>
          <a:xfrm>
            <a:off x="548640" y="1234440"/>
            <a:ext cx="11064240" cy="3474720"/>
          </a:xfrm>
          <a:prstGeom prst="rect">
            <a:avLst/>
          </a:prstGeom>
        </p:spPr>
      </p:pic>
      <p:sp>
        <p:nvSpPr>
          <p:cNvPr id="4" name="text-200"/>
          <p:cNvSpPr txBox="1"/>
          <p:nvPr/>
        </p:nvSpPr>
        <p:spPr>
          <a:xfrm>
            <a:off x="548640" y="4709160"/>
            <a:ext cx="11064240" cy="320040"/>
          </a:xfrm>
          <a:prstGeom prst="rect">
            <a:avLst/>
          </a:prstGeom>
          <a:noFill/>
          <a:ln/>
        </p:spPr>
        <p:txBody>
          <a:bodyPr wrap="square" lIns="0" tIns="0" rIns="0" bIns="0" rtlCol="0" anchor="t"/>
          <a:lstStyle/>
          <a:p>
            <a:pPr indent="0" marL="0">
              <a:buNone/>
            </a:pPr>
            <a:r>
              <a:rPr lang="en-US" sz="1100" dirty="0">
                <a:solidFill>
                  <a:schemeClr val="accent4"/>
                </a:solidFill>
              </a:rPr>
              <a:t>Heatmap S4: jede Zelle = eine Parameterkombination, Farbe = Sharpe Ratio 2018–2022, Stern = beste Kombination</a:t>
            </a:r>
            <a:endParaRPr lang="en-US" sz="1100" dirty="0"/>
          </a:p>
        </p:txBody>
      </p:sp>
      <p:sp>
        <p:nvSpPr>
          <p:cNvPr id="5" name="karte-201"/>
          <p:cNvSpPr/>
          <p:nvPr/>
        </p:nvSpPr>
        <p:spPr>
          <a:xfrm>
            <a:off x="548640" y="5074920"/>
            <a:ext cx="3566160" cy="1188720"/>
          </a:xfrm>
          <a:prstGeom prst="roundRect">
            <a:avLst>
              <a:gd name="adj" fmla="val 6154"/>
            </a:avLst>
          </a:prstGeom>
          <a:solidFill>
            <a:schemeClr val="bg2"/>
          </a:solidFill>
          <a:ln w="12700">
            <a:solidFill>
              <a:schemeClr val="bg2"/>
            </a:solidFill>
            <a:prstDash val="solid"/>
          </a:ln>
        </p:spPr>
      </p:sp>
      <p:sp>
        <p:nvSpPr>
          <p:cNvPr id="6" name="karte-text-202"/>
          <p:cNvSpPr txBox="1"/>
          <p:nvPr/>
        </p:nvSpPr>
        <p:spPr>
          <a:xfrm>
            <a:off x="731520" y="5212080"/>
            <a:ext cx="3200400" cy="9144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Grid Search</a:t>
            </a:r>
            <a:endParaRPr lang="en-US" sz="1500" dirty="0"/>
          </a:p>
          <a:p>
            <a:pPr indent="0" marL="0">
              <a:spcAft>
                <a:spcPts val="400"/>
              </a:spcAft>
              <a:buNone/>
            </a:pPr>
            <a:r>
              <a:rPr lang="en-US" sz="1300" dirty="0">
                <a:solidFill>
                  <a:schemeClr val="tx2"/>
                </a:solidFill>
              </a:rPr>
              <a:t>Je 100 Kombinationen pro Strategie testen, die beste Sharpe gewinnt.</a:t>
            </a:r>
            <a:endParaRPr lang="en-US" sz="1500" dirty="0"/>
          </a:p>
        </p:txBody>
      </p:sp>
      <p:sp>
        <p:nvSpPr>
          <p:cNvPr id="7" name="karte-203"/>
          <p:cNvSpPr/>
          <p:nvPr/>
        </p:nvSpPr>
        <p:spPr>
          <a:xfrm>
            <a:off x="4297680" y="5074920"/>
            <a:ext cx="3566160" cy="1188720"/>
          </a:xfrm>
          <a:prstGeom prst="roundRect">
            <a:avLst>
              <a:gd name="adj" fmla="val 6154"/>
            </a:avLst>
          </a:prstGeom>
          <a:solidFill>
            <a:schemeClr val="bg2"/>
          </a:solidFill>
          <a:ln w="12700">
            <a:solidFill>
              <a:schemeClr val="bg2"/>
            </a:solidFill>
            <a:prstDash val="solid"/>
          </a:ln>
        </p:spPr>
      </p:sp>
      <p:sp>
        <p:nvSpPr>
          <p:cNvPr id="8" name="karte-text-204"/>
          <p:cNvSpPr txBox="1"/>
          <p:nvPr/>
        </p:nvSpPr>
        <p:spPr>
          <a:xfrm>
            <a:off x="4480560" y="5212080"/>
            <a:ext cx="3200400" cy="9144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Plateau-Check</a:t>
            </a:r>
            <a:endParaRPr lang="en-US" sz="1500" dirty="0"/>
          </a:p>
          <a:p>
            <a:pPr indent="0" marL="0">
              <a:spcAft>
                <a:spcPts val="400"/>
              </a:spcAft>
              <a:buNone/>
            </a:pPr>
            <a:r>
              <a:rPr lang="en-US" sz="1300" dirty="0">
                <a:solidFill>
                  <a:schemeClr val="tx2"/>
                </a:solidFill>
              </a:rPr>
              <a:t>Sind die Nachbarn ähnlich gut? Dann ist das Optimum robust, nicht Zufall.</a:t>
            </a:r>
            <a:endParaRPr lang="en-US" sz="1500" dirty="0"/>
          </a:p>
        </p:txBody>
      </p:sp>
      <p:sp>
        <p:nvSpPr>
          <p:cNvPr id="9" name="karte-205"/>
          <p:cNvSpPr/>
          <p:nvPr/>
        </p:nvSpPr>
        <p:spPr>
          <a:xfrm>
            <a:off x="8046720" y="5074920"/>
            <a:ext cx="3566160" cy="1188720"/>
          </a:xfrm>
          <a:prstGeom prst="roundRect">
            <a:avLst>
              <a:gd name="adj" fmla="val 6154"/>
            </a:avLst>
          </a:prstGeom>
          <a:solidFill>
            <a:schemeClr val="bg2"/>
          </a:solidFill>
          <a:ln w="12700">
            <a:solidFill>
              <a:schemeClr val="bg2"/>
            </a:solidFill>
            <a:prstDash val="solid"/>
          </a:ln>
        </p:spPr>
      </p:sp>
      <p:sp>
        <p:nvSpPr>
          <p:cNvPr id="10" name="karte-text-206"/>
          <p:cNvSpPr txBox="1"/>
          <p:nvPr/>
        </p:nvSpPr>
        <p:spPr>
          <a:xfrm>
            <a:off x="8229600" y="5212080"/>
            <a:ext cx="3200400" cy="9144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Deflated Sharpe Ratio</a:t>
            </a:r>
            <a:endParaRPr lang="en-US" sz="1500" dirty="0"/>
          </a:p>
          <a:p>
            <a:pPr indent="0" marL="0">
              <a:spcAft>
                <a:spcPts val="400"/>
              </a:spcAft>
              <a:buNone/>
            </a:pPr>
            <a:r>
              <a:rPr lang="en-US" sz="1300" dirty="0">
                <a:solidFill>
                  <a:schemeClr val="tx2"/>
                </a:solidFill>
              </a:rPr>
              <a:t>Wahrscheinlichkeit, dass die beste Sharpe echt ist, trotz 100 Versuchen.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560320"/>
            <a:ext cx="10698480" cy="1097280"/>
          </a:xfrm>
          <a:prstGeom prst="rect">
            <a:avLst/>
          </a:prstGeom>
          <a:noFill/>
          <a:ln/>
        </p:spPr>
        <p:txBody>
          <a:bodyPr wrap="square" lIns="0" tIns="0" rIns="0" bIns="0" rtlCol="0"/>
          <a:lstStyle/>
          <a:p>
            <a:pPr algn="l" indent="0" marL="0">
              <a:buNone/>
            </a:pPr>
            <a:r>
              <a:rPr lang="en-US" sz="4000" b="1" dirty="0">
                <a:solidFill>
                  <a:schemeClr val="bg1"/>
                </a:solidFill>
              </a:rPr>
              <a:t>Ergebnisse In-Sample 2018–2022</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lIns="0" tIns="0" rIns="0" bIns="0" rtlCol="0"/>
          <a:lstStyle/>
          <a:p>
            <a:pPr indent="0" marL="0">
              <a:buNone/>
            </a:pPr>
            <a:r>
              <a:rPr lang="en-US" sz="1800" dirty="0">
                <a:solidFill>
                  <a:schemeClr val="accent6"/>
                </a:solidFill>
              </a:rPr>
              <a:t>Wichtig: Das ist noch nicht die Antwort. Die kommt erst aus dem Out-of-Sample-Test.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Sharpe Ratio: fast alle Varianten über Buy &amp; Hold</a:t>
            </a:r>
            <a:endParaRPr lang="en-US" sz="3200" dirty="0"/>
          </a:p>
        </p:txBody>
      </p:sp>
      <p:graphicFrame>
        <p:nvGraphicFramePr>
          <p:cNvPr id="3" name="Chart 0" descr=""/>
          <p:cNvGraphicFramePr/>
          <p:nvPr/>
        </p:nvGraphicFramePr>
        <p:xfrm>
          <a:off x="548640" y="1234440"/>
          <a:ext cx="7589520" cy="4983480"/>
        </p:xfrm>
        <a:graphic xmlns:a="http://schemas.openxmlformats.org/drawingml/2006/main">
          <a:graphicData uri="http://schemas.openxmlformats.org/drawingml/2006/chart">
            <c:chart xmlns:c="http://schemas.openxmlformats.org/drawingml/2006/chart" r:id="rId1"/>
          </a:graphicData>
        </a:graphic>
      </p:graphicFrame>
      <p:sp>
        <p:nvSpPr>
          <p:cNvPr id="4" name="text-207"/>
          <p:cNvSpPr txBox="1"/>
          <p:nvPr/>
        </p:nvSpPr>
        <p:spPr>
          <a:xfrm>
            <a:off x="8503920" y="1325880"/>
            <a:ext cx="3108960" cy="82296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0.44</a:t>
            </a:r>
            <a:endParaRPr lang="en-US" sz="4800" dirty="0"/>
          </a:p>
        </p:txBody>
      </p:sp>
      <p:sp>
        <p:nvSpPr>
          <p:cNvPr id="5" name="text-208"/>
          <p:cNvSpPr txBox="1"/>
          <p:nvPr/>
        </p:nvSpPr>
        <p:spPr>
          <a:xfrm>
            <a:off x="8503920" y="2103120"/>
            <a:ext cx="3108960" cy="365760"/>
          </a:xfrm>
          <a:prstGeom prst="rect">
            <a:avLst/>
          </a:prstGeom>
          <a:noFill/>
          <a:ln/>
        </p:spPr>
        <p:txBody>
          <a:bodyPr wrap="square" lIns="0" tIns="0" rIns="0" bIns="0" rtlCol="0" anchor="t"/>
          <a:lstStyle/>
          <a:p>
            <a:pPr indent="0" marL="0">
              <a:buNone/>
            </a:pPr>
            <a:r>
              <a:rPr lang="en-US" sz="1400" b="1" dirty="0">
                <a:solidFill>
                  <a:schemeClr val="tx1"/>
                </a:solidFill>
              </a:rPr>
              <a:t>Buy &amp; Hold: der Massstab</a:t>
            </a:r>
            <a:endParaRPr lang="en-US" sz="1400" dirty="0"/>
          </a:p>
        </p:txBody>
      </p:sp>
      <p:sp>
        <p:nvSpPr>
          <p:cNvPr id="6" name="text-209"/>
          <p:cNvSpPr txBox="1"/>
          <p:nvPr/>
        </p:nvSpPr>
        <p:spPr>
          <a:xfrm>
            <a:off x="8503920" y="2743200"/>
            <a:ext cx="310896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1.41</a:t>
            </a:r>
            <a:endParaRPr lang="en-US" sz="4800" dirty="0"/>
          </a:p>
        </p:txBody>
      </p:sp>
      <p:sp>
        <p:nvSpPr>
          <p:cNvPr id="7" name="text-210"/>
          <p:cNvSpPr txBox="1"/>
          <p:nvPr/>
        </p:nvSpPr>
        <p:spPr>
          <a:xfrm>
            <a:off x="8503920" y="3520440"/>
            <a:ext cx="3108960" cy="365760"/>
          </a:xfrm>
          <a:prstGeom prst="rect">
            <a:avLst/>
          </a:prstGeom>
          <a:noFill/>
          <a:ln/>
        </p:spPr>
        <p:txBody>
          <a:bodyPr wrap="square" lIns="0" tIns="0" rIns="0" bIns="0" rtlCol="0" anchor="t"/>
          <a:lstStyle/>
          <a:p>
            <a:pPr indent="0" marL="0">
              <a:buNone/>
            </a:pPr>
            <a:r>
              <a:rPr lang="en-US" sz="1400" b="1" dirty="0">
                <a:solidFill>
                  <a:schemeClr val="tx1"/>
                </a:solidFill>
              </a:rPr>
              <a:t>beste Variante: S4 optimiert</a:t>
            </a:r>
            <a:endParaRPr lang="en-US" sz="1400" dirty="0"/>
          </a:p>
        </p:txBody>
      </p:sp>
      <p:sp>
        <p:nvSpPr>
          <p:cNvPr id="8" name="karte-211"/>
          <p:cNvSpPr/>
          <p:nvPr/>
        </p:nvSpPr>
        <p:spPr>
          <a:xfrm>
            <a:off x="8503920" y="4114800"/>
            <a:ext cx="3108960" cy="2103120"/>
          </a:xfrm>
          <a:prstGeom prst="roundRect">
            <a:avLst>
              <a:gd name="adj" fmla="val 3478"/>
            </a:avLst>
          </a:prstGeom>
          <a:solidFill>
            <a:schemeClr val="accent6"/>
          </a:solidFill>
          <a:ln w="12700">
            <a:solidFill>
              <a:schemeClr val="accent6"/>
            </a:solidFill>
            <a:prstDash val="solid"/>
          </a:ln>
        </p:spPr>
      </p:sp>
      <p:sp>
        <p:nvSpPr>
          <p:cNvPr id="9" name="karte-text-212"/>
          <p:cNvSpPr txBox="1"/>
          <p:nvPr/>
        </p:nvSpPr>
        <p:spPr>
          <a:xfrm>
            <a:off x="8686800" y="4251960"/>
            <a:ext cx="2743200" cy="182880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Optimierte Varianten (orange) sind hier zwangsläufig gut: Sie wurden genau auf diese Jahre zugeschnitten. Ehrlich messen kann man erst im Out-of-Sample-Test.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Max Drawdown: weniger tiefe Einbrüche als Buy &amp; Hold</a:t>
            </a:r>
            <a:endParaRPr lang="en-US" sz="3200" dirty="0"/>
          </a:p>
        </p:txBody>
      </p:sp>
      <p:graphicFrame>
        <p:nvGraphicFramePr>
          <p:cNvPr id="3" name="Chart 0" descr=""/>
          <p:cNvGraphicFramePr/>
          <p:nvPr/>
        </p:nvGraphicFramePr>
        <p:xfrm>
          <a:off x="548640" y="1234440"/>
          <a:ext cx="5669280" cy="4983480"/>
        </p:xfrm>
        <a:graphic xmlns:a="http://schemas.openxmlformats.org/drawingml/2006/main">
          <a:graphicData uri="http://schemas.openxmlformats.org/drawingml/2006/chart">
            <c:chart xmlns:c="http://schemas.openxmlformats.org/drawingml/2006/chart" r:id="rId1"/>
          </a:graphicData>
        </a:graphic>
      </p:graphicFrame>
      <p:pic>
        <p:nvPicPr>
          <p:cNvPr id="4" name="equity-213" descr="C:\Users\tukib\OneDrive - bbw.ch\BMS\BMA\bma-btc-tradingbot\results\insample_equity.png">    </p:cNvPr>
          <p:cNvPicPr>
            <a:picLocks noChangeAspect="1"/>
          </p:cNvPicPr>
          <p:nvPr/>
        </p:nvPicPr>
        <p:blipFill>
          <a:blip r:embed="rId2"/>
          <a:stretch>
            <a:fillRect/>
          </a:stretch>
        </p:blipFill>
        <p:spPr>
          <a:xfrm>
            <a:off x="6492240" y="1234440"/>
            <a:ext cx="5120640" cy="3840480"/>
          </a:xfrm>
          <a:prstGeom prst="rect">
            <a:avLst/>
          </a:prstGeom>
        </p:spPr>
      </p:pic>
      <p:sp>
        <p:nvSpPr>
          <p:cNvPr id="5" name="text-214"/>
          <p:cNvSpPr txBox="1"/>
          <p:nvPr/>
        </p:nvSpPr>
        <p:spPr>
          <a:xfrm>
            <a:off x="6492240" y="5120640"/>
            <a:ext cx="5120640" cy="548640"/>
          </a:xfrm>
          <a:prstGeom prst="rect">
            <a:avLst/>
          </a:prstGeom>
          <a:noFill/>
          <a:ln/>
        </p:spPr>
        <p:txBody>
          <a:bodyPr wrap="square" lIns="0" tIns="0" rIns="0" bIns="0" rtlCol="0" anchor="t"/>
          <a:lstStyle/>
          <a:p>
            <a:pPr indent="0" marL="0">
              <a:buNone/>
            </a:pPr>
            <a:r>
              <a:rPr lang="en-US" sz="1100" dirty="0">
                <a:solidFill>
                  <a:schemeClr val="accent4"/>
                </a:solidFill>
              </a:rPr>
              <a:t>Kapitalkurven (Start = 1, log-Skala). Schwarz = Buy &amp; Hold. Flache Linien = Cash-Phasen.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Beste Parameter: robust oder Zufall?</a:t>
            </a:r>
            <a:endParaRPr lang="en-US" sz="3200" dirty="0"/>
          </a:p>
        </p:txBody>
      </p:sp>
      <p:graphicFrame>
        <p:nvGraphicFramePr>
          <p:cNvPr id="17" name="tabelle-215"/>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3017520"/>
                <a:gridCol w="1737360"/>
                <a:gridCol w="1097280"/>
                <a:gridCol w="1188720"/>
                <a:gridCol w="18288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Strategie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beste Parameter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Sharpe Std → Opt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Plateau</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DSR (100)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Urteil</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S1 SMA-Crossover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fast 50, slow 140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0.54 → 0.80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eher robust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S2 Momentum+ATR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roc 20, atr_mult 1.7</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0.74 → 0.95</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robust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S3 RSI-Reversion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oversold 40, overbought 85, rsi 21</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−0.63 → 0.59</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D64545"/>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D64545"/>
                          </a:solidFill>
                          <a:latin typeface="Calibri" pitchFamily="34" charset="0"/>
                          <a:ea typeface="Calibri" pitchFamily="34" charset="-122"/>
                          <a:cs typeface="Calibri" pitchFamily="34" charset="-120"/>
                        </a:rPr>
                        <a:t>0.33</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D64545"/>
                          </a:solidFill>
                          <a:latin typeface="Calibri" pitchFamily="34" charset="0"/>
                          <a:ea typeface="Calibri" pitchFamily="34" charset="-122"/>
                          <a:cs typeface="Calibri" pitchFamily="34" charset="-120"/>
                        </a:rPr>
                        <a:t>verdächtig (Spitze)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45720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S4 Fear&amp;Greed+MA</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greed 65, fear 35, ma_slow 60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0.85 → 1.41</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1.27</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0.98</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robust, aber am Grid-Rand</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bl>
          </a:graphicData>
        </a:graphic>
      </p:graphicFrame>
      <p:sp>
        <p:nvSpPr>
          <p:cNvPr id="4" name="karte-216"/>
          <p:cNvSpPr/>
          <p:nvPr/>
        </p:nvSpPr>
        <p:spPr>
          <a:xfrm>
            <a:off x="548640" y="4251960"/>
            <a:ext cx="3566160" cy="1965960"/>
          </a:xfrm>
          <a:prstGeom prst="roundRect">
            <a:avLst>
              <a:gd name="adj" fmla="val 3721"/>
            </a:avLst>
          </a:prstGeom>
          <a:solidFill>
            <a:schemeClr val="bg2"/>
          </a:solidFill>
          <a:ln w="12700">
            <a:solidFill>
              <a:schemeClr val="bg2"/>
            </a:solidFill>
            <a:prstDash val="solid"/>
          </a:ln>
        </p:spPr>
      </p:sp>
      <p:sp>
        <p:nvSpPr>
          <p:cNvPr id="5" name="karte-text-217"/>
          <p:cNvSpPr txBox="1"/>
          <p:nvPr/>
        </p:nvSpPr>
        <p:spPr>
          <a:xfrm>
            <a:off x="731520" y="4389120"/>
            <a:ext cx="3200400" cy="16916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Plateau</a:t>
            </a:r>
            <a:endParaRPr lang="en-US" sz="1700" dirty="0"/>
          </a:p>
          <a:p>
            <a:pPr indent="0" marL="0">
              <a:spcAft>
                <a:spcPts val="400"/>
              </a:spcAft>
              <a:buNone/>
            </a:pPr>
            <a:r>
              <a:rPr lang="en-US" sz="1300" dirty="0">
                <a:solidFill>
                  <a:schemeClr val="tx2"/>
                </a:solidFill>
              </a:rPr>
              <a:t>Ø Sharpe der 4 direkten Grid-Nachbarn. Nahe am Optimum = robust. S3: Nachbarn negativ → Glückstreffer.</a:t>
            </a:r>
            <a:endParaRPr lang="en-US" sz="1700" dirty="0"/>
          </a:p>
        </p:txBody>
      </p:sp>
      <p:sp>
        <p:nvSpPr>
          <p:cNvPr id="6" name="karte-218"/>
          <p:cNvSpPr/>
          <p:nvPr/>
        </p:nvSpPr>
        <p:spPr>
          <a:xfrm>
            <a:off x="4297680" y="4251960"/>
            <a:ext cx="3566160" cy="1965960"/>
          </a:xfrm>
          <a:prstGeom prst="roundRect">
            <a:avLst>
              <a:gd name="adj" fmla="val 3721"/>
            </a:avLst>
          </a:prstGeom>
          <a:solidFill>
            <a:schemeClr val="bg2"/>
          </a:solidFill>
          <a:ln w="12700">
            <a:solidFill>
              <a:schemeClr val="bg2"/>
            </a:solidFill>
            <a:prstDash val="solid"/>
          </a:ln>
        </p:spPr>
      </p:sp>
      <p:sp>
        <p:nvSpPr>
          <p:cNvPr id="7" name="karte-text-219"/>
          <p:cNvSpPr txBox="1"/>
          <p:nvPr/>
        </p:nvSpPr>
        <p:spPr>
          <a:xfrm>
            <a:off x="4480560" y="4389120"/>
            <a:ext cx="3200400" cy="16916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DSR</a:t>
            </a:r>
            <a:endParaRPr lang="en-US" sz="1700" dirty="0"/>
          </a:p>
          <a:p>
            <a:pPr indent="0" marL="0">
              <a:spcAft>
                <a:spcPts val="400"/>
              </a:spcAft>
              <a:buNone/>
            </a:pPr>
            <a:r>
              <a:rPr lang="en-US" sz="1300" dirty="0">
                <a:solidFill>
                  <a:schemeClr val="tx2"/>
                </a:solidFill>
              </a:rPr>
              <a:t>Nahe 1: Ergebnis glaubwürdig trotz 100 Versuchen. Mit allen 400 Versuchen gerechnet fallen alle Werte unter 0.25 (offene Frage).</a:t>
            </a:r>
            <a:endParaRPr lang="en-US" sz="1700" dirty="0"/>
          </a:p>
        </p:txBody>
      </p:sp>
      <p:sp>
        <p:nvSpPr>
          <p:cNvPr id="8" name="karte-220"/>
          <p:cNvSpPr/>
          <p:nvPr/>
        </p:nvSpPr>
        <p:spPr>
          <a:xfrm>
            <a:off x="8046720" y="4251960"/>
            <a:ext cx="3566160" cy="1965960"/>
          </a:xfrm>
          <a:prstGeom prst="roundRect">
            <a:avLst>
              <a:gd name="adj" fmla="val 3721"/>
            </a:avLst>
          </a:prstGeom>
          <a:solidFill>
            <a:schemeClr val="accent6"/>
          </a:solidFill>
          <a:ln w="12700">
            <a:solidFill>
              <a:schemeClr val="accent6"/>
            </a:solidFill>
            <a:prstDash val="solid"/>
          </a:ln>
        </p:spPr>
      </p:sp>
      <p:sp>
        <p:nvSpPr>
          <p:cNvPr id="9" name="karte-text-221"/>
          <p:cNvSpPr txBox="1"/>
          <p:nvPr/>
        </p:nvSpPr>
        <p:spPr>
          <a:xfrm>
            <a:off x="8229600" y="4389120"/>
            <a:ext cx="3200400" cy="16916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Grid-Rand</a:t>
            </a:r>
            <a:endParaRPr lang="en-US" sz="1700" dirty="0"/>
          </a:p>
          <a:p>
            <a:pPr indent="0" marL="0">
              <a:spcAft>
                <a:spcPts val="400"/>
              </a:spcAft>
              <a:buNone/>
            </a:pPr>
            <a:r>
              <a:rPr lang="en-US" sz="1300" dirty="0">
                <a:solidFill>
                  <a:schemeClr val="tx2"/>
                </a:solidFill>
              </a:rPr>
              <a:t>Bei S3 und S4 liegt das Optimum am Rand des getesteten Bereichs. Das eigentliche Optimum könnte ausserhalb liegen.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Marktphasen: Strategien verdienen ihr Geld im Bull-Markt</a:t>
            </a:r>
            <a:endParaRPr lang="en-US" sz="3200" dirty="0"/>
          </a:p>
        </p:txBody>
      </p:sp>
      <p:graphicFrame>
        <p:nvGraphicFramePr>
          <p:cNvPr id="3" name="Chart 0" descr=""/>
          <p:cNvGraphicFramePr/>
          <p:nvPr/>
        </p:nvGraphicFramePr>
        <p:xfrm>
          <a:off x="548640" y="123444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karte-222"/>
          <p:cNvSpPr/>
          <p:nvPr/>
        </p:nvSpPr>
        <p:spPr>
          <a:xfrm>
            <a:off x="7772400" y="1234440"/>
            <a:ext cx="3840480" cy="2148840"/>
          </a:xfrm>
          <a:prstGeom prst="roundRect">
            <a:avLst>
              <a:gd name="adj" fmla="val 3404"/>
            </a:avLst>
          </a:prstGeom>
          <a:solidFill>
            <a:schemeClr val="bg2"/>
          </a:solidFill>
          <a:ln w="12700">
            <a:solidFill>
              <a:schemeClr val="bg2"/>
            </a:solidFill>
            <a:prstDash val="solid"/>
          </a:ln>
        </p:spPr>
      </p:sp>
      <p:sp>
        <p:nvSpPr>
          <p:cNvPr id="5" name="karte-text-223"/>
          <p:cNvSpPr txBox="1"/>
          <p:nvPr/>
        </p:nvSpPr>
        <p:spPr>
          <a:xfrm>
            <a:off x="7955280" y="1371600"/>
            <a:ext cx="3474720" cy="1874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Definition</a:t>
            </a:r>
            <a:endParaRPr lang="en-US" sz="1700" dirty="0"/>
          </a:p>
          <a:p>
            <a:pPr indent="0" marL="0">
              <a:spcAft>
                <a:spcPts val="400"/>
              </a:spcAft>
              <a:buNone/>
            </a:pPr>
            <a:r>
              <a:rPr lang="en-US" sz="1300" dirty="0">
                <a:solidFill>
                  <a:schemeClr val="tx2"/>
                </a:solidFill>
              </a:rPr>
              <a:t>Ein Tag ist «Bull», wenn der Schlusskurs am Vortag über seinem 200-Tage-Durchschnitt lag, sonst «Bear». In 2018–2022 etwa je die Hälfte der Tage.</a:t>
            </a:r>
            <a:endParaRPr lang="en-US" sz="1700" dirty="0"/>
          </a:p>
        </p:txBody>
      </p:sp>
      <p:sp>
        <p:nvSpPr>
          <p:cNvPr id="6" name="karte-224"/>
          <p:cNvSpPr/>
          <p:nvPr/>
        </p:nvSpPr>
        <p:spPr>
          <a:xfrm>
            <a:off x="7772400" y="3566160"/>
            <a:ext cx="3840480" cy="2651760"/>
          </a:xfrm>
          <a:prstGeom prst="roundRect">
            <a:avLst>
              <a:gd name="adj" fmla="val 2759"/>
            </a:avLst>
          </a:prstGeom>
          <a:solidFill>
            <a:schemeClr val="bg2"/>
          </a:solidFill>
          <a:ln w="12700">
            <a:solidFill>
              <a:schemeClr val="bg2"/>
            </a:solidFill>
            <a:prstDash val="solid"/>
          </a:ln>
        </p:spPr>
      </p:sp>
      <p:sp>
        <p:nvSpPr>
          <p:cNvPr id="7" name="karte-text-225"/>
          <p:cNvSpPr txBox="1"/>
          <p:nvPr/>
        </p:nvSpPr>
        <p:spPr>
          <a:xfrm>
            <a:off x="7955280" y="3703320"/>
            <a:ext cx="3474720" cy="23774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Beobachtung</a:t>
            </a:r>
            <a:endParaRPr lang="en-US" sz="1700" dirty="0"/>
          </a:p>
          <a:p>
            <a:pPr marL="342900" indent="-342900">
              <a:spcAft>
                <a:spcPts val="400"/>
              </a:spcAft>
              <a:buSzPct val="100000"/>
              <a:buChar char="•"/>
            </a:pPr>
            <a:r>
              <a:rPr lang="en-US" sz="1300" dirty="0">
                <a:solidFill>
                  <a:schemeClr val="tx2"/>
                </a:solidFill>
              </a:rPr>
              <a:t>Alle Strategien sind im Bull-Markt besser</a:t>
            </a:r>
            <a:endParaRPr lang="en-US" sz="1700" dirty="0"/>
          </a:p>
          <a:p>
            <a:pPr marL="342900" indent="-342900">
              <a:spcAft>
                <a:spcPts val="400"/>
              </a:spcAft>
              <a:buSzPct val="100000"/>
              <a:buChar char="•"/>
            </a:pPr>
            <a:r>
              <a:rPr lang="en-US" sz="1300" dirty="0">
                <a:solidFill>
                  <a:schemeClr val="tx2"/>
                </a:solidFill>
              </a:rPr>
              <a:t>Im Bear-Markt schützen sie vor allem, indem sie in Cash gehen</a:t>
            </a:r>
            <a:endParaRPr lang="en-US" sz="1700" dirty="0"/>
          </a:p>
          <a:p>
            <a:pPr marL="342900" indent="-342900">
              <a:spcAft>
                <a:spcPts val="400"/>
              </a:spcAft>
              <a:buSzPct val="100000"/>
              <a:buChar char="•"/>
            </a:pPr>
            <a:r>
              <a:rPr lang="en-US" sz="1300" dirty="0">
                <a:solidFill>
                  <a:schemeClr val="tx2"/>
                </a:solidFill>
              </a:rPr>
              <a:t>Buy &amp; Hold: Bear-Sharpe positiv, aber Rendite −21 %: Sharpe misst den Ø der Tagesrenditen, starke Schwankung frisst Kapital</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Kosten: Wer viel handelt, verliert bei höheren Gebühren</a:t>
            </a:r>
            <a:endParaRPr lang="en-US" sz="3200" dirty="0"/>
          </a:p>
        </p:txBody>
      </p:sp>
      <p:graphicFrame>
        <p:nvGraphicFramePr>
          <p:cNvPr id="3" name="Chart 0" descr=""/>
          <p:cNvGraphicFramePr/>
          <p:nvPr/>
        </p:nvGraphicFramePr>
        <p:xfrm>
          <a:off x="548640" y="123444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text-226"/>
          <p:cNvSpPr txBox="1"/>
          <p:nvPr/>
        </p:nvSpPr>
        <p:spPr>
          <a:xfrm>
            <a:off x="7772400" y="1325880"/>
            <a:ext cx="384048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80 → 96</a:t>
            </a:r>
            <a:endParaRPr lang="en-US" sz="4400" dirty="0"/>
          </a:p>
        </p:txBody>
      </p:sp>
      <p:sp>
        <p:nvSpPr>
          <p:cNvPr id="5" name="text-227"/>
          <p:cNvSpPr txBox="1"/>
          <p:nvPr/>
        </p:nvSpPr>
        <p:spPr>
          <a:xfrm>
            <a:off x="7772400" y="2103120"/>
            <a:ext cx="3840480" cy="365760"/>
          </a:xfrm>
          <a:prstGeom prst="rect">
            <a:avLst/>
          </a:prstGeom>
          <a:noFill/>
          <a:ln/>
        </p:spPr>
        <p:txBody>
          <a:bodyPr wrap="square" lIns="0" tIns="0" rIns="0" bIns="0" rtlCol="0" anchor="t"/>
          <a:lstStyle/>
          <a:p>
            <a:pPr indent="0" marL="0">
              <a:buNone/>
            </a:pPr>
            <a:r>
              <a:rPr lang="en-US" sz="1400" b="1" dirty="0">
                <a:solidFill>
                  <a:schemeClr val="tx1"/>
                </a:solidFill>
              </a:rPr>
              <a:t>Trades bei S2 in 5 Jahren (Std → Opt)</a:t>
            </a:r>
            <a:endParaRPr lang="en-US" sz="1400" dirty="0"/>
          </a:p>
        </p:txBody>
      </p:sp>
      <p:sp>
        <p:nvSpPr>
          <p:cNvPr id="6" name="karte-228"/>
          <p:cNvSpPr/>
          <p:nvPr/>
        </p:nvSpPr>
        <p:spPr>
          <a:xfrm>
            <a:off x="7772400" y="2743200"/>
            <a:ext cx="3840480" cy="3474720"/>
          </a:xfrm>
          <a:prstGeom prst="roundRect">
            <a:avLst>
              <a:gd name="adj" fmla="val 2105"/>
            </a:avLst>
          </a:prstGeom>
          <a:solidFill>
            <a:schemeClr val="bg2"/>
          </a:solidFill>
          <a:ln w="12700">
            <a:solidFill>
              <a:schemeClr val="bg2"/>
            </a:solidFill>
            <a:prstDash val="solid"/>
          </a:ln>
        </p:spPr>
      </p:sp>
      <p:sp>
        <p:nvSpPr>
          <p:cNvPr id="7" name="karte-text-229"/>
          <p:cNvSpPr txBox="1"/>
          <p:nvPr/>
        </p:nvSpPr>
        <p:spPr>
          <a:xfrm>
            <a:off x="7955280" y="2880360"/>
            <a:ext cx="3474720" cy="32004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Interpretation</a:t>
            </a:r>
            <a:endParaRPr lang="en-US" sz="1700" dirty="0"/>
          </a:p>
          <a:p>
            <a:pPr marL="342900" indent="-342900">
              <a:spcAft>
                <a:spcPts val="400"/>
              </a:spcAft>
              <a:buSzPct val="100000"/>
              <a:buChar char="•"/>
            </a:pPr>
            <a:r>
              <a:rPr lang="en-US" sz="1300" dirty="0">
                <a:solidFill>
                  <a:schemeClr val="tx2"/>
                </a:solidFill>
              </a:rPr>
              <a:t>Gebühr = 0.1 % × Positionsänderung, bei Kauf und Verkauf</a:t>
            </a:r>
            <a:endParaRPr lang="en-US" sz="1700" dirty="0"/>
          </a:p>
          <a:p>
            <a:pPr marL="342900" indent="-342900">
              <a:spcAft>
                <a:spcPts val="400"/>
              </a:spcAft>
              <a:buSzPct val="100000"/>
              <a:buChar char="•"/>
            </a:pPr>
            <a:r>
              <a:rPr lang="en-US" sz="1300" dirty="0">
                <a:solidFill>
                  <a:schemeClr val="tx2"/>
                </a:solidFill>
              </a:rPr>
              <a:t>S2 handelt am meisten und verliert am meisten (0.95 → 0.83)</a:t>
            </a:r>
            <a:endParaRPr lang="en-US" sz="1700" dirty="0"/>
          </a:p>
          <a:p>
            <a:pPr marL="342900" indent="-342900">
              <a:spcAft>
                <a:spcPts val="400"/>
              </a:spcAft>
              <a:buSzPct val="100000"/>
              <a:buChar char="•"/>
            </a:pPr>
            <a:r>
              <a:rPr lang="en-US" sz="1300" dirty="0">
                <a:solidFill>
                  <a:schemeClr val="tx2"/>
                </a:solidFill>
              </a:rPr>
              <a:t>S1, S4: wenige Trades, Gebühr fast egal</a:t>
            </a:r>
            <a:endParaRPr lang="en-US" sz="1700" dirty="0"/>
          </a:p>
          <a:p>
            <a:pPr marL="342900" indent="-342900">
              <a:spcAft>
                <a:spcPts val="400"/>
              </a:spcAft>
              <a:buSzPct val="100000"/>
              <a:buChar char="•"/>
            </a:pPr>
            <a:r>
              <a:rPr lang="en-US" sz="1300" dirty="0">
                <a:solidFill>
                  <a:schemeClr val="tx2"/>
                </a:solidFill>
              </a:rPr>
              <a:t>Parameter wurden für die Sensitivität NICHT neu optimiert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560320"/>
            <a:ext cx="10698480" cy="1097280"/>
          </a:xfrm>
          <a:prstGeom prst="rect">
            <a:avLst/>
          </a:prstGeom>
          <a:noFill/>
          <a:ln/>
        </p:spPr>
        <p:txBody>
          <a:bodyPr wrap="square" lIns="0" tIns="0" rIns="0" bIns="0" rtlCol="0"/>
          <a:lstStyle/>
          <a:p>
            <a:pPr algn="l" indent="0" marL="0">
              <a:buNone/>
            </a:pPr>
            <a:r>
              <a:rPr lang="en-US" sz="4000" b="1" dirty="0">
                <a:solidFill>
                  <a:schemeClr val="bg1"/>
                </a:solidFill>
              </a:rPr>
              <a:t>Die Entscheide</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lIns="0" tIns="0" rIns="0" bIns="0" rtlCol="0"/>
          <a:lstStyle/>
          <a:p>
            <a:pPr indent="0" marL="0">
              <a:buNone/>
            </a:pPr>
            <a:r>
              <a:rPr lang="en-US" sz="1800" dirty="0">
                <a:solidFill>
                  <a:schemeClr val="accent6"/>
                </a:solidFill>
              </a:rPr>
              <a:t>32 Annahmen, alle begründet in docs/entscheidungen.md</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Entscheide 1/3: Daten und Zeitlogik</a:t>
            </a:r>
            <a:endParaRPr lang="en-US" sz="3200" dirty="0"/>
          </a:p>
        </p:txBody>
      </p:sp>
      <p:graphicFrame>
        <p:nvGraphicFramePr>
          <p:cNvPr id="21" name="tabelle-23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005840"/>
                <a:gridCol w="5486400"/>
                <a:gridCol w="45720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E1</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Alles in UTC, ein Tag = Binance-Tageskerze 00:00–23:59 UTC</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«Schlusskurs Tag T» ist damit eindeutig</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Fear &amp; Greed vom Tag T erst ab Tag T+1 verwenden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Veröffentlichungszeit unklar → lieber einen Tag zu spät als Look-Ahead</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E3/E4</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Fehlende Tage mit dem letzten bekannten Wert füllen, nie mit späteren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Rückwärts füllen würde Zukunftswissen in die Vergangenheit kopieren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E5</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Bitstamp USD ohne Umrechnung vor Binance USDT hängen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Abweichung Ø 0.8 %, nur für Indikatoren verwendet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E8</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Daten nur bis 31.12.2025 laden, nicht «bis heute»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Reproduzierbar: jeder Download liefert dieselben Tage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E13/E15</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OOS nur mit BMA_ALLOW_OOS=1, jeder Zugriff protokolliert, Dashboard zeigt OOS nicht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Testdaten bleiben unberührt, nachweisbar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E18</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Entscheid am Schlusskurs t, Handel zum Schlusskurs t, Rendite ab t+1</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Mit Tagesdaten die einzige Ausführung ohne Zukunftswissen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Entscheide 2/3: Backtest und Kosten</a:t>
            </a:r>
            <a:endParaRPr lang="en-US" sz="3200" dirty="0"/>
          </a:p>
        </p:txBody>
      </p:sp>
      <p:graphicFrame>
        <p:nvGraphicFramePr>
          <p:cNvPr id="22" name="tabelle-231"/>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22960"/>
                <a:gridCol w="5029200"/>
                <a:gridCol w="3566160"/>
                <a:gridCol w="1645920"/>
              </a:tblGrid>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r>
              <a:tr h="64008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E19</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Alle Varianten starten am 1.1.2018 in Cash, erster Kauf zum Schlusskurs 1.1.2018</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Gleiche Startbedingungen wie Buy &amp; Hold</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bestätigt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64008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Am Ende: heute ohne Verkauf. Vorschlag Team: Verkauf mit nochmals 0.1 % für alle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Realistischer: Gewinne zählen erst nach dem Verkauf</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F7931A"/>
                          </a:solidFill>
                          <a:latin typeface="Calibri" pitchFamily="34" charset="0"/>
                          <a:ea typeface="Calibri" pitchFamily="34" charset="-122"/>
                          <a:cs typeface="Calibri" pitchFamily="34" charset="-120"/>
                        </a:rPr>
                        <a:t>zu bestätigen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64008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E21</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Netto-Rendite = Position × Rendite − Gebühr × |Positionsänderung|</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Einfach nachvollziehbar, Fehler &lt; 0.0001 pro Trade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64008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E22</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Ensemble: tägliches Nachjustieren auf 25/50/75 % ohne Kosten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Bekannte Vereinfachung, Effekt klein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bestätigt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64008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E23</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Trade = zusammenhängende Zeit investiert, inkl. Ein- und Ausstiegsgebühr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Funktioniert auch für Teilpositionen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64008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E29</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HOLD: aus Cash nur Einstieg prüfen, investiert nur Ausstieg; fehlt ein Indikator → Cash</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Vorgabe; fehlende Daten dürfen kein Signal auslösen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Entscheide 3/3: Kennzahlen und Statistik</a:t>
            </a:r>
            <a:endParaRPr lang="en-US" sz="3200" dirty="0"/>
          </a:p>
        </p:txBody>
      </p:sp>
      <p:graphicFrame>
        <p:nvGraphicFramePr>
          <p:cNvPr id="23" name="tabelle-232"/>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22960"/>
                <a:gridCol w="5029200"/>
                <a:gridCol w="3566160"/>
                <a:gridCol w="164592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solidFill>
                      <a:srgbClr val="1B2430"/>
                    </a:solidFill>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E24</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Sharpe mit √365 und rf = 0; Sortino teilt durch alle Tage; Sharpe = 0, wenn nie investiert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Krypto handelt 365 Tage; Standarddefinitionen; keine Division durch 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E25</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DSR mit 100 Versuchen pro Strategie, zusätzlich mit allen 400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Welche Zahl «richtig» ist, ist eine Methodenfrage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b="1" dirty="0">
                          <a:solidFill>
                            <a:srgbClr val="F7931A"/>
                          </a:solidFill>
                          <a:latin typeface="Calibri" pitchFamily="34" charset="0"/>
                          <a:ea typeface="Calibri" pitchFamily="34" charset="-122"/>
                          <a:cs typeface="Calibri" pitchFamily="34" charset="-120"/>
                        </a:rPr>
                        <a:t>offene Frage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E26</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Plateau = Ø der direkten Nachbarn (ein Parameter ±1 Stufe)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Einfach erklärbar</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E27</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Optimiert wird die Sharpe Ratio bei 0.1 % Gebühr, nur 2018–2022</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Vorgabe der Fragestellung</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E28</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RSI und ATR nach Wilders Originaldefinition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Lehrbuchformel, gegen Handrechnung getestet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E30</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Bull/Bear über Close und 200-Tage-Ø des Vortags</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Phase steht zu Tagesbeginn fest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r h="566928">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E32</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Kausalitätstest für jede Strategie</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Der Backtester allein erkennt Zukunftsdaten nicht</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offen</a:t>
                      </a:r>
                      <a:endParaRPr lang="en-US" sz="1300" dirty="0">
                        <a:latin typeface="Calibri" charset="0"/>
                        <a:ea typeface="Calibri" charset="0"/>
                        <a:cs typeface="Calibri" charset="0"/>
                      </a:endParaRPr>
                    </a:p>
                  </a:txBody>
                  <a:tcPr marL="91440" marR="91440" marT="45720" marB="45720" anchor="ctr">
                    <a:lnL w="6350" cap="flat" cmpd="sng" algn="ctr">
                      <a:solidFill>
                        <a:srgbClr val="D9DFE6"/>
                      </a:solidFill>
                      <a:prstDash val="solid"/>
                      <a:round/>
                      <a:headEnd type="none" w="med" len="med"/>
                      <a:tailEnd type="none" w="med" len="med"/>
                    </a:lnL>
                    <a:lnR w="6350" cap="flat" cmpd="sng" algn="ctr">
                      <a:solidFill>
                        <a:srgbClr val="D9DFE6"/>
                      </a:solidFill>
                      <a:prstDash val="solid"/>
                      <a:round/>
                      <a:headEnd type="none" w="med" len="med"/>
                      <a:tailEnd type="none" w="med" len="med"/>
                    </a:lnR>
                    <a:lnT w="6350" cap="flat" cmpd="sng" algn="ctr">
                      <a:solidFill>
                        <a:srgbClr val="D9DFE6"/>
                      </a:solidFill>
                      <a:prstDash val="solid"/>
                      <a:round/>
                      <a:headEnd type="none" w="med" len="med"/>
                      <a:tailEnd type="none" w="med" len="med"/>
                    </a:lnT>
                    <a:lnB w="6350" cap="flat" cmpd="sng" algn="ctr">
                      <a:solidFill>
                        <a:srgbClr val="D9DF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560320"/>
            <a:ext cx="10698480" cy="1097280"/>
          </a:xfrm>
          <a:prstGeom prst="rect">
            <a:avLst/>
          </a:prstGeom>
          <a:noFill/>
          <a:ln/>
        </p:spPr>
        <p:txBody>
          <a:bodyPr wrap="square" lIns="0" tIns="0" rIns="0" bIns="0" rtlCol="0"/>
          <a:lstStyle/>
          <a:p>
            <a:pPr algn="l" indent="0" marL="0">
              <a:buNone/>
            </a:pPr>
            <a:r>
              <a:rPr lang="en-US" sz="4000" b="1" dirty="0">
                <a:solidFill>
                  <a:schemeClr val="bg1"/>
                </a:solidFill>
              </a:rPr>
              <a:t>Qualität und Bedienung</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lIns="0" tIns="0" rIns="0" bIns="0" rtlCol="0"/>
          <a:lstStyle/>
          <a:p>
            <a:pPr indent="0" marL="0">
              <a:buNone/>
            </a:pPr>
            <a:r>
              <a:rPr lang="en-US" sz="1800" dirty="0">
                <a:solidFill>
                  <a:schemeClr val="accent6"/>
                </a:solidFill>
              </a:rPr>
              <a:t>Wie gut ist der KI-Code und wie benutzt man den Bot?</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Qualität des KI-Codes: bisher gemessen</a:t>
            </a:r>
            <a:endParaRPr lang="en-US" sz="3200" dirty="0"/>
          </a:p>
        </p:txBody>
      </p:sp>
      <p:sp>
        <p:nvSpPr>
          <p:cNvPr id="3" name="text-233"/>
          <p:cNvSpPr txBox="1"/>
          <p:nvPr/>
        </p:nvSpPr>
        <p:spPr>
          <a:xfrm>
            <a:off x="548640" y="128016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91</a:t>
            </a:r>
            <a:endParaRPr lang="en-US" sz="5400" dirty="0"/>
          </a:p>
        </p:txBody>
      </p:sp>
      <p:sp>
        <p:nvSpPr>
          <p:cNvPr id="4" name="text-234"/>
          <p:cNvSpPr txBox="1"/>
          <p:nvPr/>
        </p:nvSpPr>
        <p:spPr>
          <a:xfrm>
            <a:off x="548640" y="2194560"/>
            <a:ext cx="3566160" cy="411480"/>
          </a:xfrm>
          <a:prstGeom prst="rect">
            <a:avLst/>
          </a:prstGeom>
          <a:noFill/>
          <a:ln/>
        </p:spPr>
        <p:txBody>
          <a:bodyPr wrap="square" lIns="0" tIns="0" rIns="0" bIns="0" rtlCol="0" anchor="t"/>
          <a:lstStyle/>
          <a:p>
            <a:pPr indent="0" marL="0">
              <a:buNone/>
            </a:pPr>
            <a:r>
              <a:rPr lang="en-US" sz="1600" b="1" dirty="0">
                <a:solidFill>
                  <a:schemeClr val="tx1"/>
                </a:solidFill>
              </a:rPr>
              <a:t>automatische Tests, alle grün</a:t>
            </a:r>
            <a:endParaRPr lang="en-US" sz="1600" dirty="0"/>
          </a:p>
        </p:txBody>
      </p:sp>
      <p:sp>
        <p:nvSpPr>
          <p:cNvPr id="5" name="text-235"/>
          <p:cNvSpPr txBox="1"/>
          <p:nvPr/>
        </p:nvSpPr>
        <p:spPr>
          <a:xfrm>
            <a:off x="4297680" y="128016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95 %</a:t>
            </a:r>
            <a:endParaRPr lang="en-US" sz="5400" dirty="0"/>
          </a:p>
        </p:txBody>
      </p:sp>
      <p:sp>
        <p:nvSpPr>
          <p:cNvPr id="6" name="text-236"/>
          <p:cNvSpPr txBox="1"/>
          <p:nvPr/>
        </p:nvSpPr>
        <p:spPr>
          <a:xfrm>
            <a:off x="4297680" y="2194560"/>
            <a:ext cx="3566160" cy="411480"/>
          </a:xfrm>
          <a:prstGeom prst="rect">
            <a:avLst/>
          </a:prstGeom>
          <a:noFill/>
          <a:ln/>
        </p:spPr>
        <p:txBody>
          <a:bodyPr wrap="square" lIns="0" tIns="0" rIns="0" bIns="0" rtlCol="0" anchor="t"/>
          <a:lstStyle/>
          <a:p>
            <a:pPr indent="0" marL="0">
              <a:buNone/>
            </a:pPr>
            <a:r>
              <a:rPr lang="en-US" sz="1600" b="1" dirty="0">
                <a:solidFill>
                  <a:schemeClr val="tx1"/>
                </a:solidFill>
              </a:rPr>
              <a:t>Testabdeckung des Codes</a:t>
            </a:r>
            <a:endParaRPr lang="en-US" sz="1600" dirty="0"/>
          </a:p>
        </p:txBody>
      </p:sp>
      <p:sp>
        <p:nvSpPr>
          <p:cNvPr id="7" name="text-237"/>
          <p:cNvSpPr txBox="1"/>
          <p:nvPr/>
        </p:nvSpPr>
        <p:spPr>
          <a:xfrm>
            <a:off x="8046720" y="128016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8" name="text-238"/>
          <p:cNvSpPr txBox="1"/>
          <p:nvPr/>
        </p:nvSpPr>
        <p:spPr>
          <a:xfrm>
            <a:off x="8046720" y="2194560"/>
            <a:ext cx="3566160" cy="411480"/>
          </a:xfrm>
          <a:prstGeom prst="rect">
            <a:avLst/>
          </a:prstGeom>
          <a:noFill/>
          <a:ln/>
        </p:spPr>
        <p:txBody>
          <a:bodyPr wrap="square" lIns="0" tIns="0" rIns="0" bIns="0" rtlCol="0" anchor="t"/>
          <a:lstStyle/>
          <a:p>
            <a:pPr indent="0" marL="0">
              <a:buNone/>
            </a:pPr>
            <a:r>
              <a:rPr lang="en-US" sz="1600" b="1" dirty="0">
                <a:solidFill>
                  <a:schemeClr val="tx1"/>
                </a:solidFill>
              </a:rPr>
              <a:t>Einträge im KI-Fehlerlog</a:t>
            </a:r>
            <a:endParaRPr lang="en-US" sz="1600" dirty="0"/>
          </a:p>
        </p:txBody>
      </p:sp>
      <p:sp>
        <p:nvSpPr>
          <p:cNvPr id="9" name="karte-239"/>
          <p:cNvSpPr/>
          <p:nvPr/>
        </p:nvSpPr>
        <p:spPr>
          <a:xfrm>
            <a:off x="548640" y="2880360"/>
            <a:ext cx="5394960" cy="3337560"/>
          </a:xfrm>
          <a:prstGeom prst="roundRect">
            <a:avLst>
              <a:gd name="adj" fmla="val 2192"/>
            </a:avLst>
          </a:prstGeom>
          <a:solidFill>
            <a:schemeClr val="bg2"/>
          </a:solidFill>
          <a:ln w="12700">
            <a:solidFill>
              <a:schemeClr val="bg2"/>
            </a:solidFill>
            <a:prstDash val="solid"/>
          </a:ln>
        </p:spPr>
      </p:sp>
      <p:sp>
        <p:nvSpPr>
          <p:cNvPr id="10" name="karte-text-240"/>
          <p:cNvSpPr txBox="1"/>
          <p:nvPr/>
        </p:nvSpPr>
        <p:spPr>
          <a:xfrm>
            <a:off x="731520" y="3017520"/>
            <a:ext cx="5029200" cy="30632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Was die Tests prüfen</a:t>
            </a:r>
            <a:endParaRPr lang="en-US" sz="1700" dirty="0"/>
          </a:p>
          <a:p>
            <a:pPr marL="342900" indent="-342900">
              <a:spcAft>
                <a:spcPts val="400"/>
              </a:spcAft>
              <a:buSzPct val="100000"/>
              <a:buChar char="•"/>
            </a:pPr>
            <a:r>
              <a:rPr lang="en-US" sz="1300" dirty="0">
                <a:solidFill>
                  <a:schemeClr val="tx2"/>
                </a:solidFill>
              </a:rPr>
              <a:t>Buy &amp; Hold = Handrechnung</a:t>
            </a:r>
            <a:endParaRPr lang="en-US" sz="1700" dirty="0"/>
          </a:p>
          <a:p>
            <a:pPr marL="342900" indent="-342900">
              <a:spcAft>
                <a:spcPts val="400"/>
              </a:spcAft>
              <a:buSzPct val="100000"/>
              <a:buChar char="•"/>
            </a:pPr>
            <a:r>
              <a:rPr lang="en-US" sz="1300" dirty="0">
                <a:solidFill>
                  <a:schemeClr val="tx2"/>
                </a:solidFill>
              </a:rPr>
              <a:t>Gebühren = Σ |Positionsänderung| × 0.1 %</a:t>
            </a:r>
            <a:endParaRPr lang="en-US" sz="1700" dirty="0"/>
          </a:p>
          <a:p>
            <a:pPr marL="342900" indent="-342900">
              <a:spcAft>
                <a:spcPts val="400"/>
              </a:spcAft>
              <a:buSzPct val="100000"/>
              <a:buChar char="•"/>
            </a:pPr>
            <a:r>
              <a:rPr lang="en-US" sz="1300" dirty="0">
                <a:solidFill>
                  <a:schemeClr val="tx2"/>
                </a:solidFill>
              </a:rPr>
              <a:t>RSI, ATR, Max Drawdown gegen Handrechnung</a:t>
            </a:r>
            <a:endParaRPr lang="en-US" sz="1700" dirty="0"/>
          </a:p>
          <a:p>
            <a:pPr marL="342900" indent="-342900">
              <a:spcAft>
                <a:spcPts val="400"/>
              </a:spcAft>
              <a:buSzPct val="100000"/>
              <a:buChar char="•"/>
            </a:pPr>
            <a:r>
              <a:rPr lang="en-US" sz="1300" dirty="0">
                <a:solidFill>
                  <a:schemeClr val="tx2"/>
                </a:solidFill>
              </a:rPr>
              <a:t>Deflated Sharpe = Zahlenbeispiel aus dem Paper (0.9004)</a:t>
            </a:r>
            <a:endParaRPr lang="en-US" sz="1700" dirty="0"/>
          </a:p>
          <a:p>
            <a:pPr marL="342900" indent="-342900">
              <a:spcAft>
                <a:spcPts val="400"/>
              </a:spcAft>
              <a:buSzPct val="100000"/>
              <a:buChar char="•"/>
            </a:pPr>
            <a:r>
              <a:rPr lang="en-US" sz="1300" dirty="0">
                <a:solidFill>
                  <a:schemeClr val="tx2"/>
                </a:solidFill>
              </a:rPr>
              <a:t>Kein Look-Ahead, F&amp;G wirkt frühestens ab T+2</a:t>
            </a:r>
            <a:endParaRPr lang="en-US" sz="1700" dirty="0"/>
          </a:p>
          <a:p>
            <a:pPr marL="342900" indent="-342900">
              <a:spcAft>
                <a:spcPts val="400"/>
              </a:spcAft>
              <a:buSzPct val="100000"/>
              <a:buChar char="•"/>
            </a:pPr>
            <a:r>
              <a:rPr lang="en-US" sz="1300" dirty="0">
                <a:solidFill>
                  <a:schemeClr val="tx2"/>
                </a:solidFill>
              </a:rPr>
              <a:t>OOS-Sperre, IS/OOS-Grenzen ohne Lücke</a:t>
            </a:r>
            <a:endParaRPr lang="en-US" sz="1700" dirty="0"/>
          </a:p>
        </p:txBody>
      </p:sp>
      <p:sp>
        <p:nvSpPr>
          <p:cNvPr id="11" name="karte-241"/>
          <p:cNvSpPr/>
          <p:nvPr/>
        </p:nvSpPr>
        <p:spPr>
          <a:xfrm>
            <a:off x="6217920" y="2880360"/>
            <a:ext cx="5394960" cy="3337560"/>
          </a:xfrm>
          <a:prstGeom prst="roundRect">
            <a:avLst>
              <a:gd name="adj" fmla="val 2192"/>
            </a:avLst>
          </a:prstGeom>
          <a:solidFill>
            <a:schemeClr val="bg2"/>
          </a:solidFill>
          <a:ln w="12700">
            <a:solidFill>
              <a:schemeClr val="bg2"/>
            </a:solidFill>
            <a:prstDash val="solid"/>
          </a:ln>
        </p:spPr>
      </p:sp>
      <p:sp>
        <p:nvSpPr>
          <p:cNvPr id="12" name="karte-text-242"/>
          <p:cNvSpPr txBox="1"/>
          <p:nvPr/>
        </p:nvSpPr>
        <p:spPr>
          <a:xfrm>
            <a:off x="6400800" y="3017520"/>
            <a:ext cx="5029200" cy="30632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KI-Fehlerlog bisher</a:t>
            </a:r>
            <a:endParaRPr lang="en-US" sz="1700" dirty="0"/>
          </a:p>
          <a:p>
            <a:pPr marL="342900" indent="-342900">
              <a:spcAft>
                <a:spcPts val="400"/>
              </a:spcAft>
              <a:buSzPct val="100000"/>
              <a:buChar char="•"/>
            </a:pPr>
            <a:r>
              <a:rPr lang="en-US" sz="1300" dirty="0">
                <a:solidFill>
                  <a:schemeClr val="tx2"/>
                </a:solidFill>
              </a:rPr>
              <a:t>#1 Ausreisser-Prüfung blind nach Datenlücke, durch Test gefunden</a:t>
            </a:r>
            <a:endParaRPr lang="en-US" sz="1700" dirty="0"/>
          </a:p>
          <a:p>
            <a:pPr marL="342900" indent="-342900">
              <a:spcAft>
                <a:spcPts val="400"/>
              </a:spcAft>
              <a:buSzPct val="100000"/>
              <a:buChar char="•"/>
            </a:pPr>
            <a:r>
              <a:rPr lang="en-US" sz="1300" dirty="0">
                <a:solidFill>
                  <a:schemeClr val="tx2"/>
                </a:solidFill>
              </a:rPr>
              <a:t>#2 Falsche Sortino-Formel in der eigenen Review-Checkliste, durch KI-Selbstprüfung gefunden</a:t>
            </a:r>
            <a:endParaRPr lang="en-US" sz="1700" dirty="0"/>
          </a:p>
          <a:p>
            <a:pPr marL="342900" indent="-342900">
              <a:spcAft>
                <a:spcPts val="400"/>
              </a:spcAft>
              <a:buSzPct val="100000"/>
              <a:buChar char="•"/>
            </a:pPr>
            <a:r>
              <a:rPr lang="en-US" sz="1300" dirty="0">
                <a:solidFill>
                  <a:schemeClr val="tx2"/>
                </a:solidFill>
              </a:rPr>
              <a:t>Beide vor dem Tag v0.1 behoben; das Team-Review steht noch aus und wird die eigentlichen Daten liefern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Bedienung: ein Doppelklick auf start.bat</a:t>
            </a:r>
            <a:endParaRPr lang="en-US" sz="3200" dirty="0"/>
          </a:p>
        </p:txBody>
      </p:sp>
      <p:sp>
        <p:nvSpPr>
          <p:cNvPr id="3" name="kreis-243"/>
          <p:cNvSpPr/>
          <p:nvPr/>
        </p:nvSpPr>
        <p:spPr>
          <a:xfrm>
            <a:off x="548640" y="1280160"/>
            <a:ext cx="548640" cy="548640"/>
          </a:xfrm>
          <a:prstGeom prst="ellipse">
            <a:avLst/>
          </a:prstGeom>
          <a:solidFill>
            <a:schemeClr val="accent1"/>
          </a:solidFill>
          <a:ln w="12700">
            <a:solidFill>
              <a:schemeClr val="accent1"/>
            </a:solidFill>
            <a:prstDash val="solid"/>
          </a:ln>
        </p:spPr>
      </p:sp>
      <p:sp>
        <p:nvSpPr>
          <p:cNvPr id="4" name="kreis-text-244"/>
          <p:cNvSpPr txBox="1"/>
          <p:nvPr/>
        </p:nvSpPr>
        <p:spPr>
          <a:xfrm>
            <a:off x="548640" y="1280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0</a:t>
            </a:r>
            <a:endParaRPr lang="en-US" sz="1800" dirty="0"/>
          </a:p>
        </p:txBody>
      </p:sp>
      <p:sp>
        <p:nvSpPr>
          <p:cNvPr id="5" name="text-245"/>
          <p:cNvSpPr txBox="1"/>
          <p:nvPr/>
        </p:nvSpPr>
        <p:spPr>
          <a:xfrm>
            <a:off x="1280160" y="1298448"/>
            <a:ext cx="2011680" cy="502920"/>
          </a:xfrm>
          <a:prstGeom prst="rect">
            <a:avLst/>
          </a:prstGeom>
          <a:noFill/>
          <a:ln/>
        </p:spPr>
        <p:txBody>
          <a:bodyPr wrap="square" lIns="0" tIns="0" rIns="0" bIns="0" rtlCol="0" anchor="ctr"/>
          <a:lstStyle/>
          <a:p>
            <a:pPr indent="0" marL="0">
              <a:buNone/>
            </a:pPr>
            <a:r>
              <a:rPr lang="en-US" sz="1700" b="1" dirty="0">
                <a:solidFill>
                  <a:schemeClr val="tx1"/>
                </a:solidFill>
              </a:rPr>
              <a:t>Pakete</a:t>
            </a:r>
            <a:endParaRPr lang="en-US" sz="1700" dirty="0"/>
          </a:p>
        </p:txBody>
      </p:sp>
      <p:sp>
        <p:nvSpPr>
          <p:cNvPr id="6" name="text-246"/>
          <p:cNvSpPr txBox="1"/>
          <p:nvPr/>
        </p:nvSpPr>
        <p:spPr>
          <a:xfrm>
            <a:off x="3291840" y="1298448"/>
            <a:ext cx="3108960" cy="502920"/>
          </a:xfrm>
          <a:prstGeom prst="rect">
            <a:avLst/>
          </a:prstGeom>
          <a:noFill/>
          <a:ln/>
        </p:spPr>
        <p:txBody>
          <a:bodyPr wrap="square" lIns="0" tIns="0" rIns="0" bIns="0" rtlCol="0" anchor="ctr"/>
          <a:lstStyle/>
          <a:p>
            <a:pPr indent="0" marL="0">
              <a:buNone/>
            </a:pPr>
            <a:r>
              <a:rPr lang="en-US" sz="1400" dirty="0">
                <a:solidFill>
                  <a:schemeClr val="tx2"/>
                </a:solidFill>
              </a:rPr>
              <a:t>installiert/aktualisiert alles (uv sync)</a:t>
            </a:r>
            <a:endParaRPr lang="en-US" sz="1400" dirty="0"/>
          </a:p>
        </p:txBody>
      </p:sp>
      <p:sp>
        <p:nvSpPr>
          <p:cNvPr id="7" name="kreis-247"/>
          <p:cNvSpPr/>
          <p:nvPr/>
        </p:nvSpPr>
        <p:spPr>
          <a:xfrm>
            <a:off x="548640" y="2084832"/>
            <a:ext cx="548640" cy="548640"/>
          </a:xfrm>
          <a:prstGeom prst="ellipse">
            <a:avLst/>
          </a:prstGeom>
          <a:solidFill>
            <a:schemeClr val="accent1"/>
          </a:solidFill>
          <a:ln w="12700">
            <a:solidFill>
              <a:schemeClr val="accent1"/>
            </a:solidFill>
            <a:prstDash val="solid"/>
          </a:ln>
        </p:spPr>
      </p:sp>
      <p:sp>
        <p:nvSpPr>
          <p:cNvPr id="8" name="kreis-text-248"/>
          <p:cNvSpPr txBox="1"/>
          <p:nvPr/>
        </p:nvSpPr>
        <p:spPr>
          <a:xfrm>
            <a:off x="548640" y="208483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249"/>
          <p:cNvSpPr txBox="1"/>
          <p:nvPr/>
        </p:nvSpPr>
        <p:spPr>
          <a:xfrm>
            <a:off x="1280160" y="2103120"/>
            <a:ext cx="2011680" cy="502920"/>
          </a:xfrm>
          <a:prstGeom prst="rect">
            <a:avLst/>
          </a:prstGeom>
          <a:noFill/>
          <a:ln/>
        </p:spPr>
        <p:txBody>
          <a:bodyPr wrap="square" lIns="0" tIns="0" rIns="0" bIns="0" rtlCol="0" anchor="ctr"/>
          <a:lstStyle/>
          <a:p>
            <a:pPr indent="0" marL="0">
              <a:buNone/>
            </a:pPr>
            <a:r>
              <a:rPr lang="en-US" sz="1700" b="1" dirty="0">
                <a:solidFill>
                  <a:schemeClr val="tx1"/>
                </a:solidFill>
              </a:rPr>
              <a:t>Daten</a:t>
            </a:r>
            <a:endParaRPr lang="en-US" sz="1700" dirty="0"/>
          </a:p>
        </p:txBody>
      </p:sp>
      <p:sp>
        <p:nvSpPr>
          <p:cNvPr id="10" name="text-250"/>
          <p:cNvSpPr txBox="1"/>
          <p:nvPr/>
        </p:nvSpPr>
        <p:spPr>
          <a:xfrm>
            <a:off x="3291840" y="2103120"/>
            <a:ext cx="3108960" cy="502920"/>
          </a:xfrm>
          <a:prstGeom prst="rect">
            <a:avLst/>
          </a:prstGeom>
          <a:noFill/>
          <a:ln/>
        </p:spPr>
        <p:txBody>
          <a:bodyPr wrap="square" lIns="0" tIns="0" rIns="0" bIns="0" rtlCol="0" anchor="ctr"/>
          <a:lstStyle/>
          <a:p>
            <a:pPr indent="0" marL="0">
              <a:buNone/>
            </a:pPr>
            <a:r>
              <a:rPr lang="en-US" sz="1400" dirty="0">
                <a:solidFill>
                  <a:schemeClr val="tx2"/>
                </a:solidFill>
              </a:rPr>
              <a:t>laden aus dem Cache und prüfen</a:t>
            </a:r>
            <a:endParaRPr lang="en-US" sz="1400" dirty="0"/>
          </a:p>
        </p:txBody>
      </p:sp>
      <p:sp>
        <p:nvSpPr>
          <p:cNvPr id="11" name="kreis-251"/>
          <p:cNvSpPr/>
          <p:nvPr/>
        </p:nvSpPr>
        <p:spPr>
          <a:xfrm>
            <a:off x="548640" y="2889504"/>
            <a:ext cx="548640" cy="548640"/>
          </a:xfrm>
          <a:prstGeom prst="ellipse">
            <a:avLst/>
          </a:prstGeom>
          <a:solidFill>
            <a:schemeClr val="accent1"/>
          </a:solidFill>
          <a:ln w="12700">
            <a:solidFill>
              <a:schemeClr val="accent1"/>
            </a:solidFill>
            <a:prstDash val="solid"/>
          </a:ln>
        </p:spPr>
      </p:sp>
      <p:sp>
        <p:nvSpPr>
          <p:cNvPr id="12" name="kreis-text-252"/>
          <p:cNvSpPr txBox="1"/>
          <p:nvPr/>
        </p:nvSpPr>
        <p:spPr>
          <a:xfrm>
            <a:off x="548640" y="28895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253"/>
          <p:cNvSpPr txBox="1"/>
          <p:nvPr/>
        </p:nvSpPr>
        <p:spPr>
          <a:xfrm>
            <a:off x="1280160" y="2907792"/>
            <a:ext cx="2011680" cy="502920"/>
          </a:xfrm>
          <a:prstGeom prst="rect">
            <a:avLst/>
          </a:prstGeom>
          <a:noFill/>
          <a:ln/>
        </p:spPr>
        <p:txBody>
          <a:bodyPr wrap="square" lIns="0" tIns="0" rIns="0" bIns="0" rtlCol="0" anchor="ctr"/>
          <a:lstStyle/>
          <a:p>
            <a:pPr indent="0" marL="0">
              <a:buNone/>
            </a:pPr>
            <a:r>
              <a:rPr lang="en-US" sz="1700" b="1" dirty="0">
                <a:solidFill>
                  <a:schemeClr val="tx1"/>
                </a:solidFill>
              </a:rPr>
              <a:t>Tests</a:t>
            </a:r>
            <a:endParaRPr lang="en-US" sz="1700" dirty="0"/>
          </a:p>
        </p:txBody>
      </p:sp>
      <p:sp>
        <p:nvSpPr>
          <p:cNvPr id="14" name="text-254"/>
          <p:cNvSpPr txBox="1"/>
          <p:nvPr/>
        </p:nvSpPr>
        <p:spPr>
          <a:xfrm>
            <a:off x="3291840" y="2907792"/>
            <a:ext cx="3108960" cy="502920"/>
          </a:xfrm>
          <a:prstGeom prst="rect">
            <a:avLst/>
          </a:prstGeom>
          <a:noFill/>
          <a:ln/>
        </p:spPr>
        <p:txBody>
          <a:bodyPr wrap="square" lIns="0" tIns="0" rIns="0" bIns="0" rtlCol="0" anchor="ctr"/>
          <a:lstStyle/>
          <a:p>
            <a:pPr indent="0" marL="0">
              <a:buNone/>
            </a:pPr>
            <a:r>
              <a:rPr lang="en-US" sz="1400" dirty="0">
                <a:solidFill>
                  <a:schemeClr val="tx2"/>
                </a:solidFill>
              </a:rPr>
              <a:t>91 Tests, Bericht in htmlcov/</a:t>
            </a:r>
            <a:endParaRPr lang="en-US" sz="1400" dirty="0"/>
          </a:p>
        </p:txBody>
      </p:sp>
      <p:sp>
        <p:nvSpPr>
          <p:cNvPr id="15" name="kreis-255"/>
          <p:cNvSpPr/>
          <p:nvPr/>
        </p:nvSpPr>
        <p:spPr>
          <a:xfrm>
            <a:off x="548640" y="3694176"/>
            <a:ext cx="548640" cy="548640"/>
          </a:xfrm>
          <a:prstGeom prst="ellipse">
            <a:avLst/>
          </a:prstGeom>
          <a:solidFill>
            <a:schemeClr val="accent1"/>
          </a:solidFill>
          <a:ln w="12700">
            <a:solidFill>
              <a:schemeClr val="accent1"/>
            </a:solidFill>
            <a:prstDash val="solid"/>
          </a:ln>
        </p:spPr>
      </p:sp>
      <p:sp>
        <p:nvSpPr>
          <p:cNvPr id="16" name="kreis-text-256"/>
          <p:cNvSpPr txBox="1"/>
          <p:nvPr/>
        </p:nvSpPr>
        <p:spPr>
          <a:xfrm>
            <a:off x="548640" y="36941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257"/>
          <p:cNvSpPr txBox="1"/>
          <p:nvPr/>
        </p:nvSpPr>
        <p:spPr>
          <a:xfrm>
            <a:off x="1280160" y="3712464"/>
            <a:ext cx="2011680" cy="502920"/>
          </a:xfrm>
          <a:prstGeom prst="rect">
            <a:avLst/>
          </a:prstGeom>
          <a:noFill/>
          <a:ln/>
        </p:spPr>
        <p:txBody>
          <a:bodyPr wrap="square" lIns="0" tIns="0" rIns="0" bIns="0" rtlCol="0" anchor="ctr"/>
          <a:lstStyle/>
          <a:p>
            <a:pPr indent="0" marL="0">
              <a:buNone/>
            </a:pPr>
            <a:r>
              <a:rPr lang="en-US" sz="1700" b="1" dirty="0">
                <a:solidFill>
                  <a:schemeClr val="tx1"/>
                </a:solidFill>
              </a:rPr>
              <a:t>Optimierung</a:t>
            </a:r>
            <a:endParaRPr lang="en-US" sz="1700" dirty="0"/>
          </a:p>
        </p:txBody>
      </p:sp>
      <p:sp>
        <p:nvSpPr>
          <p:cNvPr id="18" name="text-258"/>
          <p:cNvSpPr txBox="1"/>
          <p:nvPr/>
        </p:nvSpPr>
        <p:spPr>
          <a:xfrm>
            <a:off x="3291840" y="3712464"/>
            <a:ext cx="3108960" cy="502920"/>
          </a:xfrm>
          <a:prstGeom prst="rect">
            <a:avLst/>
          </a:prstGeom>
          <a:noFill/>
          <a:ln/>
        </p:spPr>
        <p:txBody>
          <a:bodyPr wrap="square" lIns="0" tIns="0" rIns="0" bIns="0" rtlCol="0" anchor="ctr"/>
          <a:lstStyle/>
          <a:p>
            <a:pPr indent="0" marL="0">
              <a:buNone/>
            </a:pPr>
            <a:r>
              <a:rPr lang="en-US" sz="1400" dirty="0">
                <a:solidFill>
                  <a:schemeClr val="tx2"/>
                </a:solidFill>
              </a:rPr>
              <a:t>Grid Search, nur 2018–2022</a:t>
            </a:r>
            <a:endParaRPr lang="en-US" sz="1400" dirty="0"/>
          </a:p>
        </p:txBody>
      </p:sp>
      <p:sp>
        <p:nvSpPr>
          <p:cNvPr id="19" name="kreis-259"/>
          <p:cNvSpPr/>
          <p:nvPr/>
        </p:nvSpPr>
        <p:spPr>
          <a:xfrm>
            <a:off x="548640" y="4498848"/>
            <a:ext cx="548640" cy="548640"/>
          </a:xfrm>
          <a:prstGeom prst="ellipse">
            <a:avLst/>
          </a:prstGeom>
          <a:solidFill>
            <a:schemeClr val="accent1"/>
          </a:solidFill>
          <a:ln w="12700">
            <a:solidFill>
              <a:schemeClr val="accent1"/>
            </a:solidFill>
            <a:prstDash val="solid"/>
          </a:ln>
        </p:spPr>
      </p:sp>
      <p:sp>
        <p:nvSpPr>
          <p:cNvPr id="20" name="kreis-text-260"/>
          <p:cNvSpPr txBox="1"/>
          <p:nvPr/>
        </p:nvSpPr>
        <p:spPr>
          <a:xfrm>
            <a:off x="548640" y="44988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261"/>
          <p:cNvSpPr txBox="1"/>
          <p:nvPr/>
        </p:nvSpPr>
        <p:spPr>
          <a:xfrm>
            <a:off x="1280160" y="4517136"/>
            <a:ext cx="2011680" cy="502920"/>
          </a:xfrm>
          <a:prstGeom prst="rect">
            <a:avLst/>
          </a:prstGeom>
          <a:noFill/>
          <a:ln/>
        </p:spPr>
        <p:txBody>
          <a:bodyPr wrap="square" lIns="0" tIns="0" rIns="0" bIns="0" rtlCol="0" anchor="ctr"/>
          <a:lstStyle/>
          <a:p>
            <a:pPr indent="0" marL="0">
              <a:buNone/>
            </a:pPr>
            <a:r>
              <a:rPr lang="en-US" sz="1700" b="1" dirty="0">
                <a:solidFill>
                  <a:schemeClr val="tx1"/>
                </a:solidFill>
              </a:rPr>
              <a:t>Auswertung</a:t>
            </a:r>
            <a:endParaRPr lang="en-US" sz="1700" dirty="0"/>
          </a:p>
        </p:txBody>
      </p:sp>
      <p:sp>
        <p:nvSpPr>
          <p:cNvPr id="22" name="text-262"/>
          <p:cNvSpPr txBox="1"/>
          <p:nvPr/>
        </p:nvSpPr>
        <p:spPr>
          <a:xfrm>
            <a:off x="3291840" y="4517136"/>
            <a:ext cx="3108960" cy="502920"/>
          </a:xfrm>
          <a:prstGeom prst="rect">
            <a:avLst/>
          </a:prstGeom>
          <a:noFill/>
          <a:ln/>
        </p:spPr>
        <p:txBody>
          <a:bodyPr wrap="square" lIns="0" tIns="0" rIns="0" bIns="0" rtlCol="0" anchor="ctr"/>
          <a:lstStyle/>
          <a:p>
            <a:pPr indent="0" marL="0">
              <a:buNone/>
            </a:pPr>
            <a:r>
              <a:rPr lang="en-US" sz="1400" dirty="0">
                <a:solidFill>
                  <a:schemeClr val="tx2"/>
                </a:solidFill>
              </a:rPr>
              <a:t>11 Varianten vs. Buy &amp; Hold</a:t>
            </a:r>
            <a:endParaRPr lang="en-US" sz="1400" dirty="0"/>
          </a:p>
        </p:txBody>
      </p:sp>
      <p:sp>
        <p:nvSpPr>
          <p:cNvPr id="23" name="kreis-263"/>
          <p:cNvSpPr/>
          <p:nvPr/>
        </p:nvSpPr>
        <p:spPr>
          <a:xfrm>
            <a:off x="548640" y="5303520"/>
            <a:ext cx="548640" cy="548640"/>
          </a:xfrm>
          <a:prstGeom prst="ellipse">
            <a:avLst/>
          </a:prstGeom>
          <a:solidFill>
            <a:schemeClr val="accent1"/>
          </a:solidFill>
          <a:ln w="12700">
            <a:solidFill>
              <a:schemeClr val="accent1"/>
            </a:solidFill>
            <a:prstDash val="solid"/>
          </a:ln>
        </p:spPr>
      </p:sp>
      <p:sp>
        <p:nvSpPr>
          <p:cNvPr id="24" name="kreis-text-264"/>
          <p:cNvSpPr txBox="1"/>
          <p:nvPr/>
        </p:nvSpPr>
        <p:spPr>
          <a:xfrm>
            <a:off x="548640" y="5303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text-265"/>
          <p:cNvSpPr txBox="1"/>
          <p:nvPr/>
        </p:nvSpPr>
        <p:spPr>
          <a:xfrm>
            <a:off x="1280160" y="5321808"/>
            <a:ext cx="2011680" cy="502920"/>
          </a:xfrm>
          <a:prstGeom prst="rect">
            <a:avLst/>
          </a:prstGeom>
          <a:noFill/>
          <a:ln/>
        </p:spPr>
        <p:txBody>
          <a:bodyPr wrap="square" lIns="0" tIns="0" rIns="0" bIns="0" rtlCol="0" anchor="ctr"/>
          <a:lstStyle/>
          <a:p>
            <a:pPr indent="0" marL="0">
              <a:buNone/>
            </a:pPr>
            <a:r>
              <a:rPr lang="en-US" sz="1700" b="1" dirty="0">
                <a:solidFill>
                  <a:schemeClr val="tx1"/>
                </a:solidFill>
              </a:rPr>
              <a:t>Dashboard</a:t>
            </a:r>
            <a:endParaRPr lang="en-US" sz="1700" dirty="0"/>
          </a:p>
        </p:txBody>
      </p:sp>
      <p:sp>
        <p:nvSpPr>
          <p:cNvPr id="26" name="text-266"/>
          <p:cNvSpPr txBox="1"/>
          <p:nvPr/>
        </p:nvSpPr>
        <p:spPr>
          <a:xfrm>
            <a:off x="3291840" y="5321808"/>
            <a:ext cx="3108960" cy="502920"/>
          </a:xfrm>
          <a:prstGeom prst="rect">
            <a:avLst/>
          </a:prstGeom>
          <a:noFill/>
          <a:ln/>
        </p:spPr>
        <p:txBody>
          <a:bodyPr wrap="square" lIns="0" tIns="0" rIns="0" bIns="0" rtlCol="0" anchor="ctr"/>
          <a:lstStyle/>
          <a:p>
            <a:pPr indent="0" marL="0">
              <a:buNone/>
            </a:pPr>
            <a:r>
              <a:rPr lang="en-US" sz="1400" dirty="0">
                <a:solidFill>
                  <a:schemeClr val="tx2"/>
                </a:solidFill>
              </a:rPr>
              <a:t>öffnet sich im Browser</a:t>
            </a:r>
            <a:endParaRPr lang="en-US" sz="1400" dirty="0"/>
          </a:p>
        </p:txBody>
      </p:sp>
      <p:sp>
        <p:nvSpPr>
          <p:cNvPr id="27" name="karte-267"/>
          <p:cNvSpPr/>
          <p:nvPr/>
        </p:nvSpPr>
        <p:spPr>
          <a:xfrm>
            <a:off x="6675120" y="1280160"/>
            <a:ext cx="4937760" cy="2377440"/>
          </a:xfrm>
          <a:prstGeom prst="roundRect">
            <a:avLst>
              <a:gd name="adj" fmla="val 3077"/>
            </a:avLst>
          </a:prstGeom>
          <a:solidFill>
            <a:schemeClr val="bg2"/>
          </a:solidFill>
          <a:ln w="12700">
            <a:solidFill>
              <a:schemeClr val="bg2"/>
            </a:solidFill>
            <a:prstDash val="solid"/>
          </a:ln>
        </p:spPr>
      </p:sp>
      <p:sp>
        <p:nvSpPr>
          <p:cNvPr id="28" name="karte-text-268"/>
          <p:cNvSpPr txBox="1"/>
          <p:nvPr/>
        </p:nvSpPr>
        <p:spPr>
          <a:xfrm>
            <a:off x="6858000" y="1417320"/>
            <a:ext cx="4572000" cy="21031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Wo finde ich was?</a:t>
            </a:r>
            <a:endParaRPr lang="en-US" sz="1700" dirty="0"/>
          </a:p>
          <a:p>
            <a:pPr marL="342900" indent="-342900">
              <a:spcAft>
                <a:spcPts val="400"/>
              </a:spcAft>
              <a:buSzPct val="100000"/>
              <a:buChar char="•"/>
            </a:pPr>
            <a:r>
              <a:rPr lang="en-US" sz="1400" dirty="0">
                <a:solidFill>
                  <a:schemeClr val="tx2"/>
                </a:solidFill>
              </a:rPr>
              <a:t>Resultate: Ordner results/ und Dashboard</a:t>
            </a:r>
            <a:endParaRPr lang="en-US" sz="1700" dirty="0"/>
          </a:p>
          <a:p>
            <a:pPr marL="342900" indent="-342900">
              <a:spcAft>
                <a:spcPts val="400"/>
              </a:spcAft>
              <a:buSzPct val="100000"/>
              <a:buChar char="•"/>
            </a:pPr>
            <a:r>
              <a:rPr lang="en-US" sz="1400" dirty="0">
                <a:solidFill>
                  <a:schemeClr val="tx2"/>
                </a:solidFill>
              </a:rPr>
              <a:t>Testabdeckung: htmlcov/index.html</a:t>
            </a:r>
            <a:endParaRPr lang="en-US" sz="1700" dirty="0"/>
          </a:p>
          <a:p>
            <a:pPr marL="342900" indent="-342900">
              <a:spcAft>
                <a:spcPts val="400"/>
              </a:spcAft>
              <a:buSzPct val="100000"/>
              <a:buChar char="•"/>
            </a:pPr>
            <a:r>
              <a:rPr lang="en-US" sz="1400" dirty="0">
                <a:solidFill>
                  <a:schemeClr val="tx2"/>
                </a:solidFill>
              </a:rPr>
              <a:t>Anleitung: docs/anleitung.md</a:t>
            </a:r>
            <a:endParaRPr lang="en-US" sz="1700" dirty="0"/>
          </a:p>
          <a:p>
            <a:pPr marL="342900" indent="-342900">
              <a:spcAft>
                <a:spcPts val="400"/>
              </a:spcAft>
              <a:buSzPct val="100000"/>
              <a:buChar char="•"/>
            </a:pPr>
            <a:r>
              <a:rPr lang="en-US" sz="1400" dirty="0">
                <a:solidFill>
                  <a:schemeClr val="tx2"/>
                </a:solidFill>
              </a:rPr>
              <a:t>Annahmen: docs/entscheidungen.md</a:t>
            </a:r>
            <a:endParaRPr lang="en-US" sz="1700" dirty="0"/>
          </a:p>
        </p:txBody>
      </p:sp>
      <p:sp>
        <p:nvSpPr>
          <p:cNvPr id="29" name="karte-269"/>
          <p:cNvSpPr/>
          <p:nvPr/>
        </p:nvSpPr>
        <p:spPr>
          <a:xfrm>
            <a:off x="6675120" y="3840480"/>
            <a:ext cx="4937760" cy="2377440"/>
          </a:xfrm>
          <a:prstGeom prst="roundRect">
            <a:avLst>
              <a:gd name="adj" fmla="val 3077"/>
            </a:avLst>
          </a:prstGeom>
          <a:solidFill>
            <a:schemeClr val="accent6"/>
          </a:solidFill>
          <a:ln w="12700">
            <a:solidFill>
              <a:schemeClr val="accent6"/>
            </a:solidFill>
            <a:prstDash val="solid"/>
          </a:ln>
        </p:spPr>
      </p:sp>
      <p:sp>
        <p:nvSpPr>
          <p:cNvPr id="30" name="karte-text-270"/>
          <p:cNvSpPr txBox="1"/>
          <p:nvPr/>
        </p:nvSpPr>
        <p:spPr>
          <a:xfrm>
            <a:off x="6858000" y="3977640"/>
            <a:ext cx="4572000" cy="21031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Nie tun</a:t>
            </a:r>
            <a:endParaRPr lang="en-US" sz="1700" dirty="0"/>
          </a:p>
          <a:p>
            <a:pPr marL="342900" indent="-342900">
              <a:spcAft>
                <a:spcPts val="400"/>
              </a:spcAft>
              <a:buSzPct val="100000"/>
              <a:buChar char="•"/>
            </a:pPr>
            <a:r>
              <a:rPr lang="en-US" sz="1400" dirty="0">
                <a:solidFill>
                  <a:schemeClr val="tx2"/>
                </a:solidFill>
              </a:rPr>
              <a:t>BMA_ALLOW_OOS=1 setzen, «nur um zu schauen»</a:t>
            </a:r>
            <a:endParaRPr lang="en-US" sz="1700" dirty="0"/>
          </a:p>
          <a:p>
            <a:pPr marL="342900" indent="-342900">
              <a:spcAft>
                <a:spcPts val="400"/>
              </a:spcAft>
              <a:buSzPct val="100000"/>
              <a:buChar char="•"/>
            </a:pPr>
            <a:r>
              <a:rPr lang="en-US" sz="1400" dirty="0">
                <a:solidFill>
                  <a:schemeClr val="tx2"/>
                </a:solidFill>
              </a:rPr>
              <a:t>Parameter ändern, nachdem OOS gelaufen ist</a:t>
            </a:r>
            <a:endParaRPr lang="en-US" sz="1700" dirty="0"/>
          </a:p>
          <a:p>
            <a:pPr marL="342900" indent="-342900">
              <a:spcAft>
                <a:spcPts val="400"/>
              </a:spcAft>
              <a:buSzPct val="100000"/>
              <a:buChar char="•"/>
            </a:pPr>
            <a:r>
              <a:rPr lang="en-US" sz="1400" dirty="0">
                <a:solidFill>
                  <a:schemeClr val="tx2"/>
                </a:solidFill>
              </a:rPr>
              <a:t>Dateien in data/raw/ von Hand ändern</a:t>
            </a:r>
            <a:endParaRPr lang="en-US" sz="1700" dirty="0"/>
          </a:p>
          <a:p>
            <a:pPr marL="342900" indent="-342900">
              <a:spcAft>
                <a:spcPts val="400"/>
              </a:spcAft>
              <a:buSzPct val="100000"/>
              <a:buChar char="•"/>
            </a:pPr>
            <a:r>
              <a:rPr lang="en-US" sz="1400" dirty="0">
                <a:solidFill>
                  <a:schemeClr val="tx2"/>
                </a:solidFill>
              </a:rPr>
              <a:t>Tag v0.1-ki-unreviewed verschieben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Nächste Schritte</a:t>
            </a:r>
            <a:endParaRPr lang="en-US" sz="4400" dirty="0"/>
          </a:p>
        </p:txBody>
      </p:sp>
      <p:sp>
        <p:nvSpPr>
          <p:cNvPr id="3" name="kreis-271"/>
          <p:cNvSpPr/>
          <p:nvPr/>
        </p:nvSpPr>
        <p:spPr>
          <a:xfrm>
            <a:off x="731520" y="3840480"/>
            <a:ext cx="457200" cy="457200"/>
          </a:xfrm>
          <a:prstGeom prst="ellipse">
            <a:avLst/>
          </a:prstGeom>
          <a:solidFill>
            <a:schemeClr val="accent1"/>
          </a:solidFill>
          <a:ln w="12700">
            <a:solidFill>
              <a:schemeClr val="accent1"/>
            </a:solidFill>
            <a:prstDash val="solid"/>
          </a:ln>
        </p:spPr>
      </p:sp>
      <p:sp>
        <p:nvSpPr>
          <p:cNvPr id="4" name="kreis-text-272"/>
          <p:cNvSpPr txBox="1"/>
          <p:nvPr/>
        </p:nvSpPr>
        <p:spPr>
          <a:xfrm>
            <a:off x="731520" y="3840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273"/>
          <p:cNvSpPr txBox="1"/>
          <p:nvPr/>
        </p:nvSpPr>
        <p:spPr>
          <a:xfrm>
            <a:off x="1371600" y="3840480"/>
            <a:ext cx="10058400" cy="457200"/>
          </a:xfrm>
          <a:prstGeom prst="rect">
            <a:avLst/>
          </a:prstGeom>
          <a:noFill/>
          <a:ln/>
        </p:spPr>
        <p:txBody>
          <a:bodyPr wrap="square" lIns="0" tIns="0" rIns="0" bIns="0" rtlCol="0" anchor="ctr"/>
          <a:lstStyle/>
          <a:p>
            <a:pPr indent="0" marL="0">
              <a:buNone/>
            </a:pPr>
            <a:r>
              <a:rPr lang="en-US" sz="1600" dirty="0">
                <a:solidFill>
                  <a:schemeClr val="bg1"/>
                </a:solidFill>
              </a:rPr>
              <a:t>Review: Code mit docs/review_checkliste.md prüfen, Fehler ins KI-Fehlerlog, Fix-Commits «fix(review): …»</a:t>
            </a:r>
            <a:endParaRPr lang="en-US" sz="1600" dirty="0"/>
          </a:p>
        </p:txBody>
      </p:sp>
      <p:sp>
        <p:nvSpPr>
          <p:cNvPr id="6" name="kreis-274"/>
          <p:cNvSpPr/>
          <p:nvPr/>
        </p:nvSpPr>
        <p:spPr>
          <a:xfrm>
            <a:off x="731520" y="4498848"/>
            <a:ext cx="457200" cy="457200"/>
          </a:xfrm>
          <a:prstGeom prst="ellipse">
            <a:avLst/>
          </a:prstGeom>
          <a:solidFill>
            <a:schemeClr val="accent1"/>
          </a:solidFill>
          <a:ln w="12700">
            <a:solidFill>
              <a:schemeClr val="accent1"/>
            </a:solidFill>
            <a:prstDash val="solid"/>
          </a:ln>
        </p:spPr>
      </p:sp>
      <p:sp>
        <p:nvSpPr>
          <p:cNvPr id="7" name="kreis-text-275"/>
          <p:cNvSpPr txBox="1"/>
          <p:nvPr/>
        </p:nvSpPr>
        <p:spPr>
          <a:xfrm>
            <a:off x="731520" y="4498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276"/>
          <p:cNvSpPr txBox="1"/>
          <p:nvPr/>
        </p:nvSpPr>
        <p:spPr>
          <a:xfrm>
            <a:off x="1371600" y="4498848"/>
            <a:ext cx="10058400" cy="457200"/>
          </a:xfrm>
          <a:prstGeom prst="rect">
            <a:avLst/>
          </a:prstGeom>
          <a:noFill/>
          <a:ln/>
        </p:spPr>
        <p:txBody>
          <a:bodyPr wrap="square" lIns="0" tIns="0" rIns="0" bIns="0" rtlCol="0" anchor="ctr"/>
          <a:lstStyle/>
          <a:p>
            <a:pPr indent="0" marL="0">
              <a:buNone/>
            </a:pPr>
            <a:r>
              <a:rPr lang="en-US" sz="1600" dirty="0">
                <a:solidFill>
                  <a:schemeClr val="bg1"/>
                </a:solidFill>
              </a:rPr>
              <a:t>Entscheide: E20 (Schlussgebühr) bestätigen und einbauen, offene Fragen DSR (100 vs. 400) und Grid-Ränder klären</a:t>
            </a:r>
            <a:endParaRPr lang="en-US" sz="1600" dirty="0"/>
          </a:p>
        </p:txBody>
      </p:sp>
      <p:sp>
        <p:nvSpPr>
          <p:cNvPr id="9" name="kreis-277"/>
          <p:cNvSpPr/>
          <p:nvPr/>
        </p:nvSpPr>
        <p:spPr>
          <a:xfrm>
            <a:off x="731520" y="5157216"/>
            <a:ext cx="457200" cy="457200"/>
          </a:xfrm>
          <a:prstGeom prst="ellipse">
            <a:avLst/>
          </a:prstGeom>
          <a:solidFill>
            <a:schemeClr val="accent1"/>
          </a:solidFill>
          <a:ln w="12700">
            <a:solidFill>
              <a:schemeClr val="accent1"/>
            </a:solidFill>
            <a:prstDash val="solid"/>
          </a:ln>
        </p:spPr>
      </p:sp>
      <p:sp>
        <p:nvSpPr>
          <p:cNvPr id="10" name="kreis-text-278"/>
          <p:cNvSpPr txBox="1"/>
          <p:nvPr/>
        </p:nvSpPr>
        <p:spPr>
          <a:xfrm>
            <a:off x="731520" y="51572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279"/>
          <p:cNvSpPr txBox="1"/>
          <p:nvPr/>
        </p:nvSpPr>
        <p:spPr>
          <a:xfrm>
            <a:off x="1371600" y="5157216"/>
            <a:ext cx="10058400" cy="457200"/>
          </a:xfrm>
          <a:prstGeom prst="rect">
            <a:avLst/>
          </a:prstGeom>
          <a:noFill/>
          <a:ln/>
        </p:spPr>
        <p:txBody>
          <a:bodyPr wrap="square" lIns="0" tIns="0" rIns="0" bIns="0" rtlCol="0" anchor="ctr"/>
          <a:lstStyle/>
          <a:p>
            <a:pPr indent="0" marL="0">
              <a:buNone/>
            </a:pPr>
            <a:r>
              <a:rPr lang="en-US" sz="1600" dirty="0">
                <a:solidFill>
                  <a:schemeClr val="bg1"/>
                </a:solidFill>
              </a:rPr>
              <a:t>OOS-Test: einmal ausführen, wenn alles bestätigt und committet ist</a:t>
            </a:r>
            <a:endParaRPr lang="en-US" sz="1600" dirty="0"/>
          </a:p>
        </p:txBody>
      </p:sp>
      <p:sp>
        <p:nvSpPr>
          <p:cNvPr id="12" name="kreis-280"/>
          <p:cNvSpPr/>
          <p:nvPr/>
        </p:nvSpPr>
        <p:spPr>
          <a:xfrm>
            <a:off x="731520" y="5815584"/>
            <a:ext cx="457200" cy="457200"/>
          </a:xfrm>
          <a:prstGeom prst="ellipse">
            <a:avLst/>
          </a:prstGeom>
          <a:solidFill>
            <a:schemeClr val="accent1"/>
          </a:solidFill>
          <a:ln w="12700">
            <a:solidFill>
              <a:schemeClr val="accent1"/>
            </a:solidFill>
            <a:prstDash val="solid"/>
          </a:ln>
        </p:spPr>
      </p:sp>
      <p:sp>
        <p:nvSpPr>
          <p:cNvPr id="13" name="kreis-text-281"/>
          <p:cNvSpPr txBox="1"/>
          <p:nvPr/>
        </p:nvSpPr>
        <p:spPr>
          <a:xfrm>
            <a:off x="731520" y="58155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282"/>
          <p:cNvSpPr txBox="1"/>
          <p:nvPr/>
        </p:nvSpPr>
        <p:spPr>
          <a:xfrm>
            <a:off x="1371600" y="5815584"/>
            <a:ext cx="10058400" cy="457200"/>
          </a:xfrm>
          <a:prstGeom prst="rect">
            <a:avLst/>
          </a:prstGeom>
          <a:noFill/>
          <a:ln/>
        </p:spPr>
        <p:txBody>
          <a:bodyPr wrap="square" lIns="0" tIns="0" rIns="0" bIns="0" rtlCol="0" anchor="ctr"/>
          <a:lstStyle/>
          <a:p>
            <a:pPr indent="0" marL="0">
              <a:buNone/>
            </a:pPr>
            <a:r>
              <a:rPr lang="en-US" sz="1600" dirty="0">
                <a:solidFill>
                  <a:schemeClr val="bg1"/>
                </a:solidFill>
              </a:rPr>
              <a:t>Bericht: OOS vs. In-Sample vs. Buy &amp; Hold, Einfluss Marktphase, Parameter und KI-Code-Qualität</a:t>
            </a:r>
            <a:endParaRPr lang="en-US" sz="1600" dirty="0"/>
          </a:p>
        </p:txBody>
      </p:sp>
      <p:sp>
        <p:nvSpPr>
          <p:cNvPr id="16"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BMA Bitcoin">
  <a:themeElements>
    <a:clrScheme name="BMA Bitcoin">
      <a:dk1>
        <a:srgbClr val="1B2430"/>
      </a:dk1>
      <a:lt1>
        <a:srgbClr val="FFFFFF"/>
      </a:lt1>
      <a:dk2>
        <a:srgbClr val="3A4757"/>
      </a:dk2>
      <a:lt2>
        <a:srgbClr val="EEF2F6"/>
      </a:lt2>
      <a:accent1>
        <a:srgbClr val="F7931A"/>
      </a:accent1>
      <a:accent2>
        <a:srgbClr val="2E9E5B"/>
      </a:accent2>
      <a:accent3>
        <a:srgbClr val="D64545"/>
      </a:accent3>
      <a:accent4>
        <a:srgbClr val="5B7083"/>
      </a:accent4>
      <a:accent5>
        <a:srgbClr val="8C98A6"/>
      </a:accent5>
      <a:accent6>
        <a:srgbClr val="FCE3C2"/>
      </a:accent6>
      <a:hlink>
        <a:srgbClr val="1F6FB2"/>
      </a:hlink>
      <a:folHlink>
        <a:srgbClr val="6A4C93"/>
      </a:folHlink>
    </a:clrScheme>
    <a:fontScheme name="BMA Bitco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BMA Bitcoin-Trading-Bot – Projekteinführung</dc:title>
  <dc:subject>PptxGenJS Presentation</dc:subject>
  <dc:creator>BMA-Team</dc:creator>
  <cp:lastModifiedBy>BMA-Team</cp:lastModifiedBy>
  <cp:revision>1</cp:revision>
  <dcterms:created xsi:type="dcterms:W3CDTF">2026-10-19T08:52:16Z</dcterms:created>
  <dcterms:modified xsi:type="dcterms:W3CDTF">2026-10-19T08:52:16Z</dcterms:modified>
</cp:coreProperties>
</file>